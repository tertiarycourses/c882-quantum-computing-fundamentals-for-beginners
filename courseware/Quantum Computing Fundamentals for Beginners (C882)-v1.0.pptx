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5.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6" r:id="rId17"/>
    <p:sldId id="267" r:id="rId18"/>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7" r:id="rId108"/>
    <p:sldId id="358" r:id="rId109"/>
    <p:sldId id="360" r:id="rId1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7" Type="http://schemas.openxmlformats.org/officeDocument/2006/relationships/slide" Target="slides/slide11.xml"/><Relationship Id="rId18"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8" Type="http://schemas.openxmlformats.org/officeDocument/2006/relationships/slide" Target="slides/slide102.xml"/><Relationship Id="rId109" Type="http://schemas.openxmlformats.org/officeDocument/2006/relationships/slide" Target="slides/slide103.xml"/><Relationship Id="rId111" Type="http://schemas.openxmlformats.org/officeDocument/2006/relationships/slide" Target="slides/slide10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pic>
        <p:nvPicPr>
          <p:cNvPr id="6" name="Picture 5" descr="cover-qubit.png"/>
          <p:cNvPicPr>
            <a:picLocks noChangeAspect="1"/>
          </p:cNvPicPr>
          <p:nvPr/>
        </p:nvPicPr>
        <p:blipFill>
          <a:blip r:embed="rId3"/>
          <a:stretch>
            <a:fillRect/>
          </a:stretch>
        </p:blipFill>
        <p:spPr>
          <a:xfrm>
            <a:off x="8899855" y="548640"/>
            <a:ext cx="2468880" cy="2468880"/>
          </a:xfrm>
          <a:prstGeom prst="rect">
            <a:avLst/>
          </a:prstGeom>
        </p:spPr>
      </p:pic>
      <p:sp>
        <p:nvSpPr>
          <p:cNvPr id="7" name="TextBox 6"/>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NON-WSQ</a:t>
            </a:r>
          </a:p>
        </p:txBody>
      </p:sp>
      <p:sp>
        <p:nvSpPr>
          <p:cNvPr id="8" name="TextBox 7"/>
          <p:cNvSpPr txBox="1"/>
          <p:nvPr/>
        </p:nvSpPr>
        <p:spPr>
          <a:xfrm>
            <a:off x="822960" y="2606040"/>
            <a:ext cx="8412480" cy="1737360"/>
          </a:xfrm>
          <a:prstGeom prst="rect">
            <a:avLst/>
          </a:prstGeom>
          <a:noFill/>
        </p:spPr>
        <p:txBody>
          <a:bodyPr wrap="square" anchor="t">
            <a:spAutoFit/>
          </a:bodyPr>
          <a:lstStyle/>
          <a:p>
            <a:pPr algn="l">
              <a:spcAft>
                <a:spcPts val="400"/>
              </a:spcAft>
            </a:pPr>
            <a:r>
              <a:rPr sz="4000" b="1">
                <a:solidFill>
                  <a:srgbClr val="161B26"/>
                </a:solidFill>
                <a:latin typeface="Arial"/>
              </a:rPr>
              <a:t>Quantum Computing Fundamentals for Beginners</a:t>
            </a:r>
          </a:p>
        </p:txBody>
      </p:sp>
      <p:sp>
        <p:nvSpPr>
          <p:cNvPr id="9" name="Rectangle 8"/>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C882</a:t>
            </a:r>
          </a:p>
          <a:p>
            <a:pPr algn="l">
              <a:spcAft>
                <a:spcPts val="600"/>
              </a:spcAft>
            </a:pPr>
            <a:r>
              <a:rPr sz="1400" b="0">
                <a:solidFill>
                  <a:srgbClr val="5B6372"/>
                </a:solidFill>
                <a:latin typeface="Arial"/>
              </a:rPr>
              <a:t>Conducted by Tertiary Infotech Academy Pte Ltd  ·  UEN 201200696W</a:t>
            </a:r>
          </a:p>
        </p:txBody>
      </p:sp>
      <p:sp>
        <p:nvSpPr>
          <p:cNvPr id="11" name="TextBox 10"/>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 October 2026</a:t>
            </a:r>
          </a:p>
        </p:txBody>
      </p:sp>
      <p:sp>
        <p:nvSpPr>
          <p:cNvPr id="12" name="TextBox 11"/>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QUALIFICATIONS</a:t>
            </a:r>
          </a:p>
          <a:p>
            <a:pPr algn="l">
              <a:spcAft>
                <a:spcPts val="300"/>
              </a:spcAft>
            </a:pPr>
            <a:r>
              <a:rPr sz="1300" b="0">
                <a:solidFill>
                  <a:srgbClr val="161B26"/>
                </a:solidFill>
                <a:latin typeface="Arial"/>
              </a:rPr>
              <a:t>PhD; ACTA / DACE certified adult educator.</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EXPERTISE</a:t>
            </a:r>
          </a:p>
          <a:p>
            <a:pPr algn="l">
              <a:spcAft>
                <a:spcPts val="300"/>
              </a:spcAft>
            </a:pPr>
            <a:r>
              <a:rPr sz="1300" b="0">
                <a:solidFill>
                  <a:srgbClr val="161B26"/>
                </a:solidFill>
                <a:latin typeface="Arial"/>
              </a:rPr>
              <a:t>Quantum computing, quantum algorithms, machine learning and data analytics.</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300" b="0">
                <a:solidFill>
                  <a:srgbClr val="161B26"/>
                </a:solidFill>
                <a:latin typeface="Arial"/>
              </a:rPr>
              <a:t>Courses on quantum computing, quantum cryptography, Python and AI.</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Your name and organisation</a:t>
            </a:r>
          </a:p>
          <a:p>
            <a:pPr algn="l">
              <a:spcAft>
                <a:spcPts val="300"/>
              </a:spcAft>
            </a:pPr>
            <a:r>
              <a:rPr sz="1200" b="0">
                <a:solidFill>
                  <a:srgbClr val="5B6372"/>
                </a:solidFill>
                <a:latin typeface="Arial"/>
              </a:rPr>
              <a:t>Tell us your role and what your team does.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Your background</a:t>
            </a:r>
          </a:p>
          <a:p>
            <a:pPr algn="l">
              <a:spcAft>
                <a:spcPts val="300"/>
              </a:spcAft>
            </a:pPr>
            <a:r>
              <a:rPr sz="1200" b="0">
                <a:solidFill>
                  <a:srgbClr val="5B6372"/>
                </a:solidFill>
                <a:latin typeface="Arial"/>
              </a:rPr>
              <a:t>Any physics, mathematics or programming experience — none is required.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4197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Why quantum</a:t>
            </a:r>
          </a:p>
          <a:p>
            <a:pPr algn="l">
              <a:spcAft>
                <a:spcPts val="300"/>
              </a:spcAft>
            </a:pPr>
            <a:r>
              <a:rPr sz="1200" b="0">
                <a:solidFill>
                  <a:srgbClr val="5B6372"/>
                </a:solidFill>
                <a:latin typeface="Arial"/>
              </a:rPr>
              <a:t>What drew you to quantum computing?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4197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Your goal</a:t>
            </a:r>
          </a:p>
          <a:p>
            <a:pPr algn="l">
              <a:spcAft>
                <a:spcPts val="300"/>
              </a:spcAft>
            </a:pPr>
            <a:r>
              <a:rPr sz="1200" b="0">
                <a:solidFill>
                  <a:srgbClr val="5B6372"/>
                </a:solidFill>
                <a:latin typeface="Arial"/>
              </a:rPr>
              <a:t>What do you want to be able to build by the end of Day 2?</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Respect each other's views;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Exit quietly for a phone call or toilet break.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Full attendance — attend both days to get the most from the course.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COURSE PORTAL</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6309360" cy="397763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630936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011679"/>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2011679"/>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2011679"/>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20240" y="1965959"/>
            <a:ext cx="4937760" cy="2468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57400" y="1965959"/>
            <a:ext cx="4754880" cy="246888"/>
          </a:xfrm>
          <a:prstGeom prst="rect">
            <a:avLst/>
          </a:prstGeom>
          <a:noFill/>
        </p:spPr>
        <p:txBody>
          <a:bodyPr wrap="square" anchor="ctr">
            <a:spAutoFit/>
          </a:bodyPr>
          <a:lstStyle/>
          <a:p>
            <a:pPr algn="l">
              <a:spcAft>
                <a:spcPts val="400"/>
              </a:spcAft>
            </a:pPr>
            <a:r>
              <a:rPr sz="1000" b="0">
                <a:solidFill>
                  <a:srgbClr val="5B6372"/>
                </a:solidFill>
                <a:latin typeface="Arial"/>
              </a:rPr>
              <a:t>https://lms-tms.tertiaryinfotech.com</a:t>
            </a:r>
          </a:p>
        </p:txBody>
      </p:sp>
      <p:pic>
        <p:nvPicPr>
          <p:cNvPr id="14" name="Picture 13" descr="lms-portal.png"/>
          <p:cNvPicPr>
            <a:picLocks noChangeAspect="1"/>
          </p:cNvPicPr>
          <p:nvPr/>
        </p:nvPicPr>
        <p:blipFill>
          <a:blip r:embed="rId2"/>
          <a:stretch>
            <a:fillRect/>
          </a:stretch>
        </p:blipFill>
        <p:spPr>
          <a:xfrm>
            <a:off x="980414" y="2423159"/>
            <a:ext cx="5903012" cy="3291839"/>
          </a:xfrm>
          <a:prstGeom prst="rect">
            <a:avLst/>
          </a:prstGeom>
        </p:spPr>
      </p:pic>
      <p:sp>
        <p:nvSpPr>
          <p:cNvPr id="15" name="Rectangle 14"/>
          <p:cNvSpPr/>
          <p:nvPr/>
        </p:nvSpPr>
        <p:spPr>
          <a:xfrm>
            <a:off x="7360920" y="1874519"/>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1874519"/>
            <a:ext cx="82296" cy="6784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62088" y="200344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62088" y="2003449"/>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9" name="TextBox 18"/>
          <p:cNvSpPr txBox="1"/>
          <p:nvPr/>
        </p:nvSpPr>
        <p:spPr>
          <a:xfrm>
            <a:off x="8138160" y="1874519"/>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Open https://lms-tms.tertiaryinfotech.com in your browser.</a:t>
            </a:r>
          </a:p>
        </p:txBody>
      </p:sp>
      <p:sp>
        <p:nvSpPr>
          <p:cNvPr id="20" name="Rectangle 19"/>
          <p:cNvSpPr/>
          <p:nvPr/>
        </p:nvSpPr>
        <p:spPr>
          <a:xfrm>
            <a:off x="7360920" y="2699307"/>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60920" y="2699307"/>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562088" y="282823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62088" y="2828237"/>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4" name="TextBox 23"/>
          <p:cNvSpPr txBox="1"/>
          <p:nvPr/>
        </p:nvSpPr>
        <p:spPr>
          <a:xfrm>
            <a:off x="8138160" y="2699307"/>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Sign in with the account e-mailed to you before the course.</a:t>
            </a:r>
          </a:p>
        </p:txBody>
      </p:sp>
      <p:sp>
        <p:nvSpPr>
          <p:cNvPr id="25" name="Rectangle 24"/>
          <p:cNvSpPr/>
          <p:nvPr/>
        </p:nvSpPr>
        <p:spPr>
          <a:xfrm>
            <a:off x="7360920" y="3524095"/>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60920" y="3524095"/>
            <a:ext cx="82296" cy="6784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62088" y="3653025"/>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62088" y="3653025"/>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9" name="TextBox 28"/>
          <p:cNvSpPr txBox="1"/>
          <p:nvPr/>
        </p:nvSpPr>
        <p:spPr>
          <a:xfrm>
            <a:off x="8138160" y="3524095"/>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Open this course: Quantum Computing Fundamentals for Beginners.</a:t>
            </a:r>
          </a:p>
        </p:txBody>
      </p:sp>
      <p:sp>
        <p:nvSpPr>
          <p:cNvPr id="30" name="Rectangle 29"/>
          <p:cNvSpPr/>
          <p:nvPr/>
        </p:nvSpPr>
        <p:spPr>
          <a:xfrm>
            <a:off x="7360920" y="4348883"/>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0920" y="4348883"/>
            <a:ext cx="82296" cy="6784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562088" y="4477813"/>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62088" y="4477813"/>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8138160" y="4348883"/>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Download the Learner Slides, Learner Guide and Lab files.</a:t>
            </a:r>
          </a:p>
        </p:txBody>
      </p:sp>
      <p:sp>
        <p:nvSpPr>
          <p:cNvPr id="35" name="Rectangle 34"/>
          <p:cNvSpPr/>
          <p:nvPr/>
        </p:nvSpPr>
        <p:spPr>
          <a:xfrm>
            <a:off x="7360920" y="5173671"/>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60920" y="5173671"/>
            <a:ext cx="82296" cy="6784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62088" y="5302601"/>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62088" y="5302601"/>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39" name="TextBox 38"/>
          <p:cNvSpPr txBox="1"/>
          <p:nvPr/>
        </p:nvSpPr>
        <p:spPr>
          <a:xfrm>
            <a:off x="8138160" y="5173671"/>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Keep them open — you will refer to them in every lab.</a:t>
            </a:r>
          </a:p>
        </p:txBody>
      </p:sp>
      <p:sp>
        <p:nvSpPr>
          <p:cNvPr id="40" name="TextBox 39"/>
          <p:cNvSpPr txBox="1"/>
          <p:nvPr/>
        </p:nvSpPr>
        <p:spPr>
          <a:xfrm>
            <a:off x="777240" y="5943600"/>
            <a:ext cx="10634472" cy="320040"/>
          </a:xfrm>
          <a:prstGeom prst="rect">
            <a:avLst/>
          </a:prstGeom>
          <a:noFill/>
        </p:spPr>
        <p:txBody>
          <a:bodyPr wrap="square" anchor="t">
            <a:spAutoFit/>
          </a:bodyPr>
          <a:lstStyle/>
          <a:p>
            <a:pPr algn="l">
              <a:spcAft>
                <a:spcPts val="400"/>
              </a:spcAft>
            </a:pPr>
            <a:r>
              <a:rPr sz="1200" b="0">
                <a:solidFill>
                  <a:srgbClr val="5B6372"/>
                </a:solidFill>
                <a:latin typeface="Arial"/>
              </a:rPr>
              <a:t>Download everything at the start of Day 1 — you will use them throughout the course.</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15 INSTRUCTIONAL HOURS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Lesson Plan — 2 Days, 7.5 hours per 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  ·  9:30am – 5:30pm</a:t>
            </a:r>
          </a:p>
        </p:txBody>
      </p:sp>
      <p:sp>
        <p:nvSpPr>
          <p:cNvPr id="12" name="TextBox 11"/>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  ·  9:30am – 5:30pm</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b="0">
                <a:solidFill>
                  <a:srgbClr val="161B26"/>
                </a:solidFill>
                <a:latin typeface="Arial"/>
              </a:rPr>
              <a:t>•  Day 1 — Quantum Principles, States and Gates</a:t>
            </a:r>
          </a:p>
          <a:p>
            <a:pPr>
              <a:spcAft>
                <a:spcPts val="1000"/>
              </a:spcAft>
            </a:pPr>
            <a:r>
              <a:rPr sz="1300" b="0">
                <a:solidFill>
                  <a:srgbClr val="5B6372"/>
                </a:solidFill>
                <a:latin typeface="Arial"/>
              </a:rPr>
              <a:t>–  Welcome · Introductions</a:t>
            </a:r>
          </a:p>
          <a:p>
            <a:pPr>
              <a:spcAft>
                <a:spcPts val="1000"/>
              </a:spcAft>
            </a:pPr>
            <a:r>
              <a:rPr sz="1300" b="0">
                <a:solidFill>
                  <a:srgbClr val="5B6372"/>
                </a:solidFill>
                <a:latin typeface="Arial"/>
              </a:rPr>
              <a:t>–  Topic 1: Introduction to Quantum Computing (Labs 1–3)</a:t>
            </a:r>
          </a:p>
          <a:p>
            <a:pPr>
              <a:spcAft>
                <a:spcPts val="1000"/>
              </a:spcAft>
            </a:pPr>
            <a:r>
              <a:rPr sz="1300" b="0">
                <a:solidFill>
                  <a:srgbClr val="5B6372"/>
                </a:solidFill>
                <a:latin typeface="Arial"/>
              </a:rPr>
              <a:t>–  Lunch Break</a:t>
            </a:r>
          </a:p>
          <a:p>
            <a:pPr>
              <a:spcAft>
                <a:spcPts val="1000"/>
              </a:spcAft>
            </a:pPr>
            <a:r>
              <a:rPr sz="1300" b="0">
                <a:solidFill>
                  <a:srgbClr val="5B6372"/>
                </a:solidFill>
                <a:latin typeface="Arial"/>
              </a:rPr>
              <a:t>–  Topic 2: Quantum States and Gates (Labs 4–7)</a:t>
            </a:r>
          </a:p>
          <a:p>
            <a:pPr>
              <a:spcAft>
                <a:spcPts val="1000"/>
              </a:spcAft>
            </a:pPr>
            <a:r>
              <a:rPr sz="1300" b="0">
                <a:solidFill>
                  <a:srgbClr val="5B6372"/>
                </a:solidFill>
                <a:latin typeface="Arial"/>
              </a:rPr>
              <a:t>–  End of Day 1</a:t>
            </a:r>
          </a:p>
        </p:txBody>
      </p:sp>
      <p:sp>
        <p:nvSpPr>
          <p:cNvPr id="14" name="TextBox 13"/>
          <p:cNvSpPr txBox="1"/>
          <p:nvPr/>
        </p:nvSpPr>
        <p:spPr>
          <a:xfrm>
            <a:off x="6583680" y="2514600"/>
            <a:ext cx="4617720" cy="3383280"/>
          </a:xfrm>
          <a:prstGeom prst="rect">
            <a:avLst/>
          </a:prstGeom>
          <a:noFill/>
        </p:spPr>
        <p:txBody>
          <a:bodyPr wrap="square">
            <a:spAutoFit/>
          </a:bodyPr>
          <a:lstStyle/>
          <a:p>
            <a:pPr>
              <a:spcAft>
                <a:spcPts val="1000"/>
              </a:spcAft>
            </a:pPr>
            <a:r>
              <a:rPr sz="1500" b="0">
                <a:solidFill>
                  <a:srgbClr val="161B26"/>
                </a:solidFill>
                <a:latin typeface="Arial"/>
              </a:rPr>
              <a:t>•  Day 2 — Quantum Algorithms and Applications</a:t>
            </a:r>
          </a:p>
          <a:p>
            <a:pPr>
              <a:spcAft>
                <a:spcPts val="1000"/>
              </a:spcAft>
            </a:pPr>
            <a:r>
              <a:rPr sz="1300" b="0">
                <a:solidFill>
                  <a:srgbClr val="5B6372"/>
                </a:solidFill>
                <a:latin typeface="Arial"/>
              </a:rPr>
              <a:t>–  Day 1 Recap</a:t>
            </a:r>
          </a:p>
          <a:p>
            <a:pPr>
              <a:spcAft>
                <a:spcPts val="1000"/>
              </a:spcAft>
            </a:pPr>
            <a:r>
              <a:rPr sz="1300" b="0">
                <a:solidFill>
                  <a:srgbClr val="5B6372"/>
                </a:solidFill>
                <a:latin typeface="Arial"/>
              </a:rPr>
              <a:t>–  Topic 3: Quantum Algorithms (Labs 8–13)</a:t>
            </a:r>
          </a:p>
          <a:p>
            <a:pPr>
              <a:spcAft>
                <a:spcPts val="1000"/>
              </a:spcAft>
            </a:pPr>
            <a:r>
              <a:rPr sz="1300" b="0">
                <a:solidFill>
                  <a:srgbClr val="5B6372"/>
                </a:solidFill>
                <a:latin typeface="Arial"/>
              </a:rPr>
              <a:t>–  Lunch Break</a:t>
            </a:r>
          </a:p>
          <a:p>
            <a:pPr>
              <a:spcAft>
                <a:spcPts val="1000"/>
              </a:spcAft>
            </a:pPr>
            <a:r>
              <a:rPr sz="1300" b="0">
                <a:solidFill>
                  <a:srgbClr val="5B6372"/>
                </a:solidFill>
                <a:latin typeface="Arial"/>
              </a:rPr>
              <a:t>–  Topic 4: Quantum Computing Applications (Labs 14–17)</a:t>
            </a:r>
          </a:p>
          <a:p>
            <a:pPr>
              <a:spcAft>
                <a:spcPts val="1000"/>
              </a:spcAft>
            </a:pPr>
            <a:r>
              <a:rPr sz="1300" b="0">
                <a:solidFill>
                  <a:srgbClr val="5B6372"/>
                </a:solidFill>
                <a:latin typeface="Arial"/>
              </a:rPr>
              <a:t>–  Course Summary · Q&amp;A · Course Feedback</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TOPICS · 17 HANDS-ON LABS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1 · Introduction to Quantum Computing</a:t>
            </a:r>
          </a:p>
          <a:p>
            <a:pPr algn="l">
              <a:spcAft>
                <a:spcPts val="300"/>
              </a:spcAft>
            </a:pPr>
            <a:r>
              <a:rPr sz="1200" b="0">
                <a:solidFill>
                  <a:srgbClr val="5B6372"/>
                </a:solidFill>
                <a:latin typeface="Arial"/>
              </a:rPr>
              <a:t>Key principles of quantum computing; quantum computing platforms.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64792" y="3044952"/>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2 · Quantum States and Gates</a:t>
            </a:r>
          </a:p>
          <a:p>
            <a:pPr algn="l">
              <a:spcAft>
                <a:spcPts val="300"/>
              </a:spcAft>
            </a:pPr>
            <a:r>
              <a:rPr sz="1200" b="0">
                <a:solidFill>
                  <a:srgbClr val="5B6372"/>
                </a:solidFill>
                <a:latin typeface="Arial"/>
              </a:rPr>
              <a:t>Quantum state vector representations; quantum circuits and quantum gates.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4197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3 · Quantum Algorithms</a:t>
            </a:r>
          </a:p>
          <a:p>
            <a:pPr algn="l">
              <a:spcAft>
                <a:spcPts val="300"/>
              </a:spcAft>
            </a:pPr>
            <a:r>
              <a:rPr sz="1200" b="0">
                <a:solidFill>
                  <a:srgbClr val="5B6372"/>
                </a:solidFill>
                <a:latin typeface="Arial"/>
              </a:rPr>
              <a:t>Coding quantum algorithms; testing quantum algorithms.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64792" y="5349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Topic 4 · Quantum Computing Applications</a:t>
            </a:r>
          </a:p>
          <a:p>
            <a:pPr algn="l">
              <a:spcAft>
                <a:spcPts val="300"/>
              </a:spcAft>
            </a:pPr>
            <a:r>
              <a:rPr sz="1200" b="0">
                <a:solidFill>
                  <a:srgbClr val="5B6372"/>
                </a:solidFill>
                <a:latin typeface="Arial"/>
              </a:rPr>
              <a:t>Introduction to quantum error correction; introduction to quantum machine learning.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Introduction to Quantum Computing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Key Principles of Quantum Computing  ·  Quantum Computing Platforms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WHAT IS A QUANTUM COMPUTER</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quantum computer computes with superposition and entanglement.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It performs calculations on qubits using two laws of the quantum-mechanical world that have no classical equivalent.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FUNDAMENTAL UNIT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Classical Bit vs Qubit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it-vs-qubit.png"/>
          <p:cNvPicPr>
            <a:picLocks noChangeAspect="1"/>
          </p:cNvPicPr>
          <p:nvPr/>
        </p:nvPicPr>
        <p:blipFill>
          <a:blip r:embed="rId2"/>
          <a:stretch>
            <a:fillRect/>
          </a:stretch>
        </p:blipFill>
        <p:spPr>
          <a:xfrm>
            <a:off x="777240" y="2153504"/>
            <a:ext cx="6309360" cy="3648269"/>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A qubit is a superposition of |0&gt; and |1&gt;; a bit is one or the other.</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Classical bit</a:t>
            </a:r>
          </a:p>
          <a:p>
            <a:pPr algn="l">
              <a:spcAft>
                <a:spcPts val="300"/>
              </a:spcAft>
            </a:pPr>
            <a:r>
              <a:rPr sz="1150" b="0">
                <a:solidFill>
                  <a:srgbClr val="161B26"/>
                </a:solidFill>
                <a:latin typeface="Arial"/>
              </a:rPr>
              <a:t>Exactly 0 or 1 — a switch that is either off or on. n bits store ONE of 2^n values.</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Qubit</a:t>
            </a:r>
          </a:p>
          <a:p>
            <a:pPr algn="l">
              <a:spcAft>
                <a:spcPts val="300"/>
              </a:spcAft>
            </a:pPr>
            <a:r>
              <a:rPr sz="1150" b="0">
                <a:solidFill>
                  <a:srgbClr val="161B26"/>
                </a:solidFill>
                <a:latin typeface="Arial"/>
              </a:rPr>
              <a:t>|0&gt;, |1&gt;, or a superposition a|0&gt; + b|1&gt; of both at once. n qubits hold ALL 2^n amplitudes.</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Measurement</a:t>
            </a:r>
          </a:p>
          <a:p>
            <a:pPr algn="l">
              <a:spcAft>
                <a:spcPts val="300"/>
              </a:spcAft>
            </a:pPr>
            <a:r>
              <a:rPr sz="1150" b="0">
                <a:solidFill>
                  <a:srgbClr val="161B26"/>
                </a:solidFill>
                <a:latin typeface="Arial"/>
              </a:rPr>
              <a:t>Collapses the qubit to 0 or 1 with probability |a|^2 and |b|^2 — you never see a and b directly.</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Why it matters</a:t>
            </a:r>
          </a:p>
          <a:p>
            <a:pPr algn="l">
              <a:spcAft>
                <a:spcPts val="300"/>
              </a:spcAft>
            </a:pPr>
            <a:r>
              <a:rPr sz="1150" b="0">
                <a:solidFill>
                  <a:srgbClr val="161B26"/>
                </a:solidFill>
                <a:latin typeface="Arial"/>
              </a:rPr>
              <a:t>The state space doubles with every qubit added — 50 qubits already exceed a supercomputer.</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GEOMETRY OF A SINGLE QUBIT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Visualising a Qubit —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loch-sphere.png"/>
          <p:cNvPicPr>
            <a:picLocks noChangeAspect="1"/>
          </p:cNvPicPr>
          <p:nvPr/>
        </p:nvPicPr>
        <p:blipFill>
          <a:blip r:embed="rId2"/>
          <a:stretch>
            <a:fillRect/>
          </a:stretch>
        </p:blipFill>
        <p:spPr>
          <a:xfrm>
            <a:off x="1828800" y="1874519"/>
            <a:ext cx="4206240" cy="4206240"/>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|psi&gt; = cos(theta/2)|0&gt; + e^(i.phi) sin(theta/2)|1&gt;</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North pole</a:t>
            </a:r>
          </a:p>
          <a:p>
            <a:pPr algn="l">
              <a:spcAft>
                <a:spcPts val="300"/>
              </a:spcAft>
            </a:pPr>
            <a:r>
              <a:rPr sz="1150" b="0">
                <a:solidFill>
                  <a:srgbClr val="161B26"/>
                </a:solidFill>
                <a:latin typeface="Arial"/>
              </a:rPr>
              <a:t>|0&gt; — measures 0 with certainty.</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South pole</a:t>
            </a:r>
          </a:p>
          <a:p>
            <a:pPr algn="l">
              <a:spcAft>
                <a:spcPts val="300"/>
              </a:spcAft>
            </a:pPr>
            <a:r>
              <a:rPr sz="1150" b="0">
                <a:solidFill>
                  <a:srgbClr val="161B26"/>
                </a:solidFill>
                <a:latin typeface="Arial"/>
              </a:rPr>
              <a:t>|1&gt; — measures 1 with certainty.</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Equator</a:t>
            </a:r>
          </a:p>
          <a:p>
            <a:pPr algn="l">
              <a:spcAft>
                <a:spcPts val="300"/>
              </a:spcAft>
            </a:pPr>
            <a:r>
              <a:rPr sz="1150" b="0">
                <a:solidFill>
                  <a:srgbClr val="161B26"/>
                </a:solidFill>
                <a:latin typeface="Arial"/>
              </a:rPr>
              <a:t>Equal superpositions such as |+&gt; and |-&gt; — a 50/50 measurement.</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Angles</a:t>
            </a:r>
          </a:p>
          <a:p>
            <a:pPr algn="l">
              <a:spcAft>
                <a:spcPts val="300"/>
              </a:spcAft>
            </a:pPr>
            <a:r>
              <a:rPr sz="1150" b="0">
                <a:solidFill>
                  <a:srgbClr val="161B26"/>
                </a:solidFill>
                <a:latin typeface="Arial"/>
              </a:rPr>
              <a:t>theta sets the probability; phi sets the relative phase.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MATHEMATICS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State Vector Representation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48839"/>
            <a:ext cx="2904744" cy="548640"/>
          </a:xfrm>
          <a:prstGeom prst="rect">
            <a:avLst/>
          </a:prstGeom>
          <a:noFill/>
        </p:spPr>
        <p:txBody>
          <a:bodyPr wrap="square" anchor="t">
            <a:spAutoFit/>
          </a:bodyPr>
          <a:lstStyle/>
          <a:p>
            <a:pPr algn="l">
              <a:spcAft>
                <a:spcPts val="400"/>
              </a:spcAft>
            </a:pPr>
            <a:r>
              <a:rPr sz="1600" b="1">
                <a:solidFill>
                  <a:srgbClr val="1F6FEB"/>
                </a:solidFill>
                <a:latin typeface="Arial"/>
              </a:rPr>
              <a:t>Single qubit</a:t>
            </a:r>
          </a:p>
        </p:txBody>
      </p:sp>
      <p:sp>
        <p:nvSpPr>
          <p:cNvPr id="10" name="Rectangle 9"/>
          <p:cNvSpPr/>
          <p:nvPr/>
        </p:nvSpPr>
        <p:spPr>
          <a:xfrm>
            <a:off x="1005840" y="2834639"/>
            <a:ext cx="2904744"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2721864" cy="1371600"/>
          </a:xfrm>
          <a:prstGeom prst="rect">
            <a:avLst/>
          </a:prstGeom>
          <a:noFill/>
        </p:spPr>
        <p:txBody>
          <a:bodyPr wrap="square" anchor="ctr">
            <a:spAutoFit/>
          </a:bodyPr>
          <a:lstStyle/>
          <a:p>
            <a:pPr algn="ctr">
              <a:spcAft>
                <a:spcPts val="400"/>
              </a:spcAft>
            </a:pPr>
            <a:r>
              <a:rPr sz="1400" b="1">
                <a:solidFill>
                  <a:srgbClr val="9CDCFE"/>
                </a:solidFill>
                <a:latin typeface="Arial"/>
              </a:rPr>
              <a:t>|psi&gt; = a|0&gt; + b|1&gt;
|a|^2 + |b|^2 = 1</a:t>
            </a:r>
          </a:p>
        </p:txBody>
      </p:sp>
      <p:sp>
        <p:nvSpPr>
          <p:cNvPr id="12" name="TextBox 11"/>
          <p:cNvSpPr txBox="1"/>
          <p:nvPr/>
        </p:nvSpPr>
        <p:spPr>
          <a:xfrm>
            <a:off x="1005840" y="4389119"/>
            <a:ext cx="2904744" cy="1463040"/>
          </a:xfrm>
          <a:prstGeom prst="rect">
            <a:avLst/>
          </a:prstGeom>
          <a:noFill/>
        </p:spPr>
        <p:txBody>
          <a:bodyPr wrap="square" anchor="t">
            <a:spAutoFit/>
          </a:bodyPr>
          <a:lstStyle/>
          <a:p>
            <a:pPr algn="l">
              <a:spcAft>
                <a:spcPts val="400"/>
              </a:spcAft>
            </a:pPr>
            <a:r>
              <a:rPr sz="1200" b="0">
                <a:solidFill>
                  <a:srgbClr val="5B6372"/>
                </a:solidFill>
                <a:latin typeface="Arial"/>
              </a:rPr>
              <a:t>The amplitudes a and b are complex numbers. Their squared magnitudes are the measurement probabilities, and they must sum to 1 (normalisation).</a:t>
            </a:r>
          </a:p>
        </p:txBody>
      </p:sp>
      <p:sp>
        <p:nvSpPr>
          <p:cNvPr id="13" name="Rectangle 12"/>
          <p:cNvSpPr/>
          <p:nvPr/>
        </p:nvSpPr>
        <p:spPr>
          <a:xfrm>
            <a:off x="4413504" y="1874519"/>
            <a:ext cx="3361944"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2104" y="2148839"/>
            <a:ext cx="2904744" cy="548640"/>
          </a:xfrm>
          <a:prstGeom prst="rect">
            <a:avLst/>
          </a:prstGeom>
          <a:noFill/>
        </p:spPr>
        <p:txBody>
          <a:bodyPr wrap="square" anchor="t">
            <a:spAutoFit/>
          </a:bodyPr>
          <a:lstStyle/>
          <a:p>
            <a:pPr algn="l">
              <a:spcAft>
                <a:spcPts val="400"/>
              </a:spcAft>
            </a:pPr>
            <a:r>
              <a:rPr sz="1600" b="1">
                <a:solidFill>
                  <a:srgbClr val="10B981"/>
                </a:solidFill>
                <a:latin typeface="Arial"/>
              </a:rPr>
              <a:t>Dirac notation</a:t>
            </a:r>
          </a:p>
        </p:txBody>
      </p:sp>
      <p:sp>
        <p:nvSpPr>
          <p:cNvPr id="16" name="Rectangle 15"/>
          <p:cNvSpPr/>
          <p:nvPr/>
        </p:nvSpPr>
        <p:spPr>
          <a:xfrm>
            <a:off x="4642104" y="2834639"/>
            <a:ext cx="2904744"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33544" y="2834639"/>
            <a:ext cx="2721864" cy="1371600"/>
          </a:xfrm>
          <a:prstGeom prst="rect">
            <a:avLst/>
          </a:prstGeom>
          <a:noFill/>
        </p:spPr>
        <p:txBody>
          <a:bodyPr wrap="square" anchor="ctr">
            <a:spAutoFit/>
          </a:bodyPr>
          <a:lstStyle/>
          <a:p>
            <a:pPr algn="ctr">
              <a:spcAft>
                <a:spcPts val="400"/>
              </a:spcAft>
            </a:pPr>
            <a:r>
              <a:rPr sz="1400" b="1">
                <a:solidFill>
                  <a:srgbClr val="9CDCFE"/>
                </a:solidFill>
                <a:latin typeface="Arial"/>
              </a:rPr>
              <a:t>|0&gt; = [1, 0]^T
|1&gt; = [0, 1]^T</a:t>
            </a:r>
          </a:p>
        </p:txBody>
      </p:sp>
      <p:sp>
        <p:nvSpPr>
          <p:cNvPr id="18" name="TextBox 17"/>
          <p:cNvSpPr txBox="1"/>
          <p:nvPr/>
        </p:nvSpPr>
        <p:spPr>
          <a:xfrm>
            <a:off x="4642104" y="4389119"/>
            <a:ext cx="2904744" cy="1463040"/>
          </a:xfrm>
          <a:prstGeom prst="rect">
            <a:avLst/>
          </a:prstGeom>
          <a:noFill/>
        </p:spPr>
        <p:txBody>
          <a:bodyPr wrap="square" anchor="t">
            <a:spAutoFit/>
          </a:bodyPr>
          <a:lstStyle/>
          <a:p>
            <a:pPr algn="l">
              <a:spcAft>
                <a:spcPts val="400"/>
              </a:spcAft>
            </a:pPr>
            <a:r>
              <a:rPr sz="1200" b="0">
                <a:solidFill>
                  <a:srgbClr val="5B6372"/>
                </a:solidFill>
                <a:latin typeface="Arial"/>
              </a:rPr>
              <a:t>The computational basis states as column vectors. Every gate is a unitary matrix multiplying this vector.</a:t>
            </a:r>
          </a:p>
        </p:txBody>
      </p:sp>
      <p:sp>
        <p:nvSpPr>
          <p:cNvPr id="19" name="Rectangle 18"/>
          <p:cNvSpPr/>
          <p:nvPr/>
        </p:nvSpPr>
        <p:spPr>
          <a:xfrm>
            <a:off x="8049768" y="1874519"/>
            <a:ext cx="3361944"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8368" y="2148839"/>
            <a:ext cx="2904744" cy="548640"/>
          </a:xfrm>
          <a:prstGeom prst="rect">
            <a:avLst/>
          </a:prstGeom>
          <a:noFill/>
        </p:spPr>
        <p:txBody>
          <a:bodyPr wrap="square" anchor="t">
            <a:spAutoFit/>
          </a:bodyPr>
          <a:lstStyle/>
          <a:p>
            <a:pPr algn="l">
              <a:spcAft>
                <a:spcPts val="400"/>
              </a:spcAft>
            </a:pPr>
            <a:r>
              <a:rPr sz="1600" b="1">
                <a:solidFill>
                  <a:srgbClr val="7C3AED"/>
                </a:solidFill>
                <a:latin typeface="Arial"/>
              </a:rPr>
              <a:t>Two qubits</a:t>
            </a:r>
          </a:p>
        </p:txBody>
      </p:sp>
      <p:sp>
        <p:nvSpPr>
          <p:cNvPr id="22" name="Rectangle 21"/>
          <p:cNvSpPr/>
          <p:nvPr/>
        </p:nvSpPr>
        <p:spPr>
          <a:xfrm>
            <a:off x="8278368" y="2834639"/>
            <a:ext cx="2904744"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9808" y="2834639"/>
            <a:ext cx="2721864" cy="1371600"/>
          </a:xfrm>
          <a:prstGeom prst="rect">
            <a:avLst/>
          </a:prstGeom>
          <a:noFill/>
        </p:spPr>
        <p:txBody>
          <a:bodyPr wrap="square" anchor="ctr">
            <a:spAutoFit/>
          </a:bodyPr>
          <a:lstStyle/>
          <a:p>
            <a:pPr algn="ctr">
              <a:spcAft>
                <a:spcPts val="400"/>
              </a:spcAft>
            </a:pPr>
            <a:r>
              <a:rPr sz="1400" b="1">
                <a:solidFill>
                  <a:srgbClr val="9CDCFE"/>
                </a:solidFill>
                <a:latin typeface="Arial"/>
              </a:rPr>
              <a:t>|psi&gt; = a|00&gt; + b|01&gt;
        + c|10&gt; + d|11&gt;</a:t>
            </a:r>
          </a:p>
        </p:txBody>
      </p:sp>
      <p:sp>
        <p:nvSpPr>
          <p:cNvPr id="24" name="TextBox 23"/>
          <p:cNvSpPr txBox="1"/>
          <p:nvPr/>
        </p:nvSpPr>
        <p:spPr>
          <a:xfrm>
            <a:off x="8278368" y="4389119"/>
            <a:ext cx="2904744" cy="1463040"/>
          </a:xfrm>
          <a:prstGeom prst="rect">
            <a:avLst/>
          </a:prstGeom>
          <a:noFill/>
        </p:spPr>
        <p:txBody>
          <a:bodyPr wrap="square" anchor="t">
            <a:spAutoFit/>
          </a:bodyPr>
          <a:lstStyle/>
          <a:p>
            <a:pPr algn="l">
              <a:spcAft>
                <a:spcPts val="400"/>
              </a:spcAft>
            </a:pPr>
            <a:r>
              <a:rPr sz="1200" b="0">
                <a:solidFill>
                  <a:srgbClr val="5B6372"/>
                </a:solidFill>
                <a:latin typeface="Arial"/>
              </a:rPr>
              <a:t>n qubits need 2^n amplitudes. This exponential growth is the origin of quantum advantage — and of the difficulty of simulating quantum systems classically.</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WE GOT HERE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Brief History of Quantum Computing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1980–82 · The idea</a:t>
            </a:r>
          </a:p>
          <a:p>
            <a:pPr algn="l">
              <a:spcAft>
                <a:spcPts val="300"/>
              </a:spcAft>
            </a:pPr>
            <a:r>
              <a:rPr sz="1100" b="0">
                <a:solidFill>
                  <a:srgbClr val="5B6372"/>
                </a:solidFill>
                <a:latin typeface="Arial"/>
              </a:rPr>
              <a:t>Benioff describes a quantum Turing machine; Feynman argues that simulating quantum physics needs a quantum computer.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1985 · Deutsch</a:t>
            </a:r>
          </a:p>
          <a:p>
            <a:pPr algn="l">
              <a:spcAft>
                <a:spcPts val="300"/>
              </a:spcAft>
            </a:pPr>
            <a:r>
              <a:rPr sz="1100" b="0">
                <a:solidFill>
                  <a:srgbClr val="5B6372"/>
                </a:solidFill>
                <a:latin typeface="Arial"/>
              </a:rPr>
              <a:t>David Deutsch formalises the universal quantum computer and the first quantum algorithm.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1994–96 · The algorithms</a:t>
            </a:r>
          </a:p>
          <a:p>
            <a:pPr algn="l">
              <a:spcAft>
                <a:spcPts val="300"/>
              </a:spcAft>
            </a:pPr>
            <a:r>
              <a:rPr sz="1100" b="0">
                <a:solidFill>
                  <a:srgbClr val="5B6372"/>
                </a:solidFill>
                <a:latin typeface="Arial"/>
              </a:rPr>
              <a:t>Shor factors integers exponentially faster; Grover searches quadratically faster.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2019 · Quantum supremacy</a:t>
            </a:r>
          </a:p>
          <a:p>
            <a:pPr algn="l">
              <a:spcAft>
                <a:spcPts val="300"/>
              </a:spcAft>
            </a:pPr>
            <a:r>
              <a:rPr sz="1100" b="0">
                <a:solidFill>
                  <a:srgbClr val="5B6372"/>
                </a:solidFill>
                <a:latin typeface="Arial"/>
              </a:rPr>
              <a:t>Google's Sycamore completes a sampling task claimed to be intractable classically.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2020s · NISQ era</a:t>
            </a:r>
          </a:p>
          <a:p>
            <a:pPr algn="l">
              <a:spcAft>
                <a:spcPts val="300"/>
              </a:spcAft>
            </a:pPr>
            <a:r>
              <a:rPr sz="1100" b="0">
                <a:solidFill>
                  <a:srgbClr val="5B6372"/>
                </a:solidFill>
                <a:latin typeface="Arial"/>
              </a:rPr>
              <a:t>IBM, Google, IonQ and others field 50–1,000+ noisy qubits on the cloud.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Today · Toward fault tolerance</a:t>
            </a:r>
          </a:p>
          <a:p>
            <a:pPr algn="l">
              <a:spcAft>
                <a:spcPts val="300"/>
              </a:spcAft>
            </a:pPr>
            <a:r>
              <a:rPr sz="1100" b="0">
                <a:solidFill>
                  <a:srgbClr val="5B6372"/>
                </a:solidFill>
                <a:latin typeface="Arial"/>
              </a:rPr>
              <a:t>Error-corrected logical qubits are demonstrated; useful fault tolerance is the next milestone.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ANY TWO-LEVEL QUANTUM SYSTEM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Physical Implementation of a Qubit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ubit-hardware.png"/>
          <p:cNvPicPr>
            <a:picLocks noChangeAspect="1"/>
          </p:cNvPicPr>
          <p:nvPr/>
        </p:nvPicPr>
        <p:blipFill>
          <a:blip r:embed="rId2"/>
          <a:stretch>
            <a:fillRect/>
          </a:stretch>
        </p:blipFill>
        <p:spPr>
          <a:xfrm>
            <a:off x="777240" y="2351007"/>
            <a:ext cx="6309360" cy="3253263"/>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Any two-level quantum-mechanical system can serve as a qubit.</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Superconducting</a:t>
            </a:r>
          </a:p>
          <a:p>
            <a:pPr algn="l">
              <a:spcAft>
                <a:spcPts val="300"/>
              </a:spcAft>
            </a:pPr>
            <a:r>
              <a:rPr sz="1150" b="0">
                <a:solidFill>
                  <a:srgbClr val="161B26"/>
                </a:solidFill>
                <a:latin typeface="Arial"/>
              </a:rPr>
              <a:t>Josephson-junction circuits at millikelvin temperatures — IBM and Google.</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Trapped ion</a:t>
            </a:r>
          </a:p>
          <a:p>
            <a:pPr algn="l">
              <a:spcAft>
                <a:spcPts val="300"/>
              </a:spcAft>
            </a:pPr>
            <a:r>
              <a:rPr sz="1150" b="0">
                <a:solidFill>
                  <a:srgbClr val="161B26"/>
                </a:solidFill>
                <a:latin typeface="Arial"/>
              </a:rPr>
              <a:t>Individual ions held in electromagnetic traps and driven by lasers — IonQ, Quantinuum.</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Photonic</a:t>
            </a:r>
          </a:p>
          <a:p>
            <a:pPr algn="l">
              <a:spcAft>
                <a:spcPts val="300"/>
              </a:spcAft>
            </a:pPr>
            <a:r>
              <a:rPr sz="1150" b="0">
                <a:solidFill>
                  <a:srgbClr val="161B26"/>
                </a:solidFill>
                <a:latin typeface="Arial"/>
              </a:rPr>
              <a:t>Single photons carrying the state in polarisation or path — Xanadu, PsiQuantum.</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Topological</a:t>
            </a:r>
          </a:p>
          <a:p>
            <a:pPr algn="l">
              <a:spcAft>
                <a:spcPts val="300"/>
              </a:spcAft>
            </a:pPr>
            <a:r>
              <a:rPr sz="1150" b="0">
                <a:solidFill>
                  <a:srgbClr val="161B26"/>
                </a:solidFill>
                <a:latin typeface="Arial"/>
              </a:rPr>
              <a:t>Braided quasiparticles, intrinsically protected from noise — Microsoft, still experimental.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PRINCIPLE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Superposition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uperposition.png"/>
          <p:cNvPicPr>
            <a:picLocks noChangeAspect="1"/>
          </p:cNvPicPr>
          <p:nvPr/>
        </p:nvPicPr>
        <p:blipFill>
          <a:blip r:embed="rId2"/>
          <a:stretch>
            <a:fillRect/>
          </a:stretch>
        </p:blipFill>
        <p:spPr>
          <a:xfrm>
            <a:off x="777240" y="2571079"/>
            <a:ext cx="6309360" cy="2813120"/>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H|0&gt; = (|0&gt; + |1&gt;)/sqrt(2) — the Hadamard gate creates superposition.</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Both at once</a:t>
            </a:r>
          </a:p>
          <a:p>
            <a:pPr algn="l">
              <a:spcAft>
                <a:spcPts val="300"/>
              </a:spcAft>
            </a:pPr>
            <a:r>
              <a:rPr sz="1150" b="0">
                <a:solidFill>
                  <a:srgbClr val="161B26"/>
                </a:solidFill>
                <a:latin typeface="Arial"/>
              </a:rPr>
              <a:t>Before measurement the qubit genuinely holds both |0&gt; and |1&gt; with amplitudes.</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Interference</a:t>
            </a:r>
          </a:p>
          <a:p>
            <a:pPr algn="l">
              <a:spcAft>
                <a:spcPts val="300"/>
              </a:spcAft>
            </a:pPr>
            <a:r>
              <a:rPr sz="1150" b="0">
                <a:solidFill>
                  <a:srgbClr val="161B26"/>
                </a:solidFill>
                <a:latin typeface="Arial"/>
              </a:rPr>
              <a:t>Amplitudes are complex — they add and CANCEL. Algorithms engineer cancellation of wrong answers.</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Collapse</a:t>
            </a:r>
          </a:p>
          <a:p>
            <a:pPr algn="l">
              <a:spcAft>
                <a:spcPts val="300"/>
              </a:spcAft>
            </a:pPr>
            <a:r>
              <a:rPr sz="1150" b="0">
                <a:solidFill>
                  <a:srgbClr val="161B26"/>
                </a:solidFill>
                <a:latin typeface="Arial"/>
              </a:rPr>
              <a:t>Measurement destroys the superposition; you get one classical bit, at random.</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Not just probability</a:t>
            </a:r>
          </a:p>
          <a:p>
            <a:pPr algn="l">
              <a:spcAft>
                <a:spcPts val="300"/>
              </a:spcAft>
            </a:pPr>
            <a:r>
              <a:rPr sz="1150" b="0">
                <a:solidFill>
                  <a:srgbClr val="161B26"/>
                </a:solidFill>
                <a:latin typeface="Arial"/>
              </a:rPr>
              <a:t>A classical coin is unknown, not undecided. Interference proves the difference.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PRINCIPLE 2</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Entanglement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ntanglement.png"/>
          <p:cNvPicPr>
            <a:picLocks noChangeAspect="1"/>
          </p:cNvPicPr>
          <p:nvPr/>
        </p:nvPicPr>
        <p:blipFill>
          <a:blip r:embed="rId2"/>
          <a:stretch>
            <a:fillRect/>
          </a:stretch>
        </p:blipFill>
        <p:spPr>
          <a:xfrm>
            <a:off x="777240" y="2602106"/>
            <a:ext cx="6309360" cy="2751066"/>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The Bell state (|00&gt; + |11&gt;)/sqrt(2) — never |01&gt; or |10&gt;.</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Linked states</a:t>
            </a:r>
          </a:p>
          <a:p>
            <a:pPr algn="l">
              <a:spcAft>
                <a:spcPts val="300"/>
              </a:spcAft>
            </a:pPr>
            <a:r>
              <a:rPr sz="1150" b="0">
                <a:solidFill>
                  <a:srgbClr val="161B26"/>
                </a:solidFill>
                <a:latin typeface="Arial"/>
              </a:rPr>
              <a:t>Two or more particles whose quantum states cannot be described independently.</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Instant correlation</a:t>
            </a:r>
          </a:p>
          <a:p>
            <a:pPr algn="l">
              <a:spcAft>
                <a:spcPts val="300"/>
              </a:spcAft>
            </a:pPr>
            <a:r>
              <a:rPr sz="1150" b="0">
                <a:solidFill>
                  <a:srgbClr val="161B26"/>
                </a:solidFill>
                <a:latin typeface="Arial"/>
              </a:rPr>
              <a:t>Measuring one instantly determines the other, at any distance.</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EPR paradox</a:t>
            </a:r>
          </a:p>
          <a:p>
            <a:pPr algn="l">
              <a:spcAft>
                <a:spcPts val="300"/>
              </a:spcAft>
            </a:pPr>
            <a:r>
              <a:rPr sz="1150" b="0">
                <a:solidFill>
                  <a:srgbClr val="161B26"/>
                </a:solidFill>
                <a:latin typeface="Arial"/>
              </a:rPr>
              <a:t>Einstein, Podolsky and Rosen called it 'spooky action at a distance' and thought QM incomplete.</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Bell's answer</a:t>
            </a:r>
          </a:p>
          <a:p>
            <a:pPr algn="l">
              <a:spcAft>
                <a:spcPts val="300"/>
              </a:spcAft>
            </a:pPr>
            <a:r>
              <a:rPr sz="1150" b="0">
                <a:solidFill>
                  <a:srgbClr val="161B26"/>
                </a:solidFill>
                <a:latin typeface="Arial"/>
              </a:rPr>
              <a:t>Bell inequalities — and the CHSH experiment — showed nature really is non-local.</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SEPARABILITY CONDITION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Separability — Is a State Entangled?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Product state</a:t>
            </a:r>
          </a:p>
          <a:p>
            <a:pPr algn="l">
              <a:spcAft>
                <a:spcPts val="300"/>
              </a:spcAft>
            </a:pPr>
            <a:r>
              <a:rPr sz="1100" b="0">
                <a:solidFill>
                  <a:srgbClr val="5B6372"/>
                </a:solidFill>
                <a:latin typeface="Arial"/>
              </a:rPr>
              <a:t>If |psi&gt; can be written as |a&gt; tensor |b&gt;, the two qubits are INDEPENDENT — not entangled.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The test</a:t>
            </a:r>
          </a:p>
          <a:p>
            <a:pPr algn="l">
              <a:spcAft>
                <a:spcPts val="300"/>
              </a:spcAft>
            </a:pPr>
            <a:r>
              <a:rPr sz="1100" b="0">
                <a:solidFill>
                  <a:srgbClr val="5B6372"/>
                </a:solidFill>
                <a:latin typeface="Arial"/>
              </a:rPr>
              <a:t>For a|00&gt; + b|01&gt; + c|10&gt; + d|11&gt;, the state is separable if and only if ad = bc.</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4197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Worked example</a:t>
            </a:r>
          </a:p>
          <a:p>
            <a:pPr algn="l">
              <a:spcAft>
                <a:spcPts val="300"/>
              </a:spcAft>
            </a:pPr>
            <a:r>
              <a:rPr sz="1100" b="0">
                <a:solidFill>
                  <a:srgbClr val="5B6372"/>
                </a:solidFill>
                <a:latin typeface="Arial"/>
              </a:rPr>
              <a:t>The Bell state has a = d = 1/sqrt(2) and b = c = 0, so ad = 1/2 but bc = 0. They differ — it IS entangled.</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4197096"/>
            <a:ext cx="3973068" cy="1883664"/>
          </a:xfrm>
          <a:prstGeom prst="rect">
            <a:avLst/>
          </a:prstGeom>
          <a:noFill/>
        </p:spPr>
        <p:txBody>
          <a:bodyPr wrap="square" anchor="ctr">
            <a:spAutoFit/>
          </a:bodyPr>
          <a:lstStyle/>
          <a:p>
            <a:pPr algn="l">
              <a:spcAft>
                <a:spcPts val="300"/>
              </a:spcAft>
            </a:pPr>
            <a:r>
              <a:rPr sz="1400" b="1">
                <a:solidFill>
                  <a:srgbClr val="161B26"/>
                </a:solidFill>
                <a:latin typeface="Arial"/>
              </a:rPr>
              <a:t>Counter-example</a:t>
            </a:r>
          </a:p>
          <a:p>
            <a:pPr algn="l">
              <a:spcAft>
                <a:spcPts val="300"/>
              </a:spcAft>
            </a:pPr>
            <a:r>
              <a:rPr sz="1100" b="0">
                <a:solidFill>
                  <a:srgbClr val="5B6372"/>
                </a:solidFill>
                <a:latin typeface="Arial"/>
              </a:rPr>
              <a:t>(|00&gt; + |01&gt;)/sqrt(2) gives ad = 0 and bc = 0. Equal — so it is NOT entangled; it is just |0&gt; tensor |+&gt;.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RULES OF THE GAME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Five Postulates of Quantum Mechanics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1 · State space</a:t>
            </a:r>
          </a:p>
          <a:p>
            <a:pPr algn="l">
              <a:spcAft>
                <a:spcPts val="300"/>
              </a:spcAft>
            </a:pPr>
            <a:r>
              <a:rPr sz="1100" b="0">
                <a:solidFill>
                  <a:srgbClr val="5B6372"/>
                </a:solidFill>
                <a:latin typeface="Arial"/>
              </a:rPr>
              <a:t>A closed quantum system is described by a unit vector in a complex Hilbert space.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2 · Time evolution</a:t>
            </a:r>
          </a:p>
          <a:p>
            <a:pPr algn="l">
              <a:spcAft>
                <a:spcPts val="300"/>
              </a:spcAft>
            </a:pPr>
            <a:r>
              <a:rPr sz="1100" b="0">
                <a:solidFill>
                  <a:srgbClr val="5B6372"/>
                </a:solidFill>
                <a:latin typeface="Arial"/>
              </a:rPr>
              <a:t>A closed system evolves by a UNITARY operator: |psi'&gt; = U|psi&gt;. Every quantum gate is unitary, hence reversible.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3 · Observables</a:t>
            </a:r>
          </a:p>
          <a:p>
            <a:pPr algn="l">
              <a:spcAft>
                <a:spcPts val="300"/>
              </a:spcAft>
            </a:pPr>
            <a:r>
              <a:rPr sz="1100" b="0">
                <a:solidFill>
                  <a:srgbClr val="5B6372"/>
                </a:solidFill>
                <a:latin typeface="Arial"/>
              </a:rPr>
              <a:t>Every measurable quantity is a Hermitian operator; its eigenvalues are the possible results.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4 · Born rule</a:t>
            </a:r>
          </a:p>
          <a:p>
            <a:pPr algn="l">
              <a:spcAft>
                <a:spcPts val="300"/>
              </a:spcAft>
            </a:pPr>
            <a:r>
              <a:rPr sz="1100" b="0">
                <a:solidFill>
                  <a:srgbClr val="5B6372"/>
                </a:solidFill>
                <a:latin typeface="Arial"/>
              </a:rPr>
              <a:t>The probability of outcome m is |&lt;m|psi&gt;|^2 — the squared amplitude.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5 · Collapse</a:t>
            </a:r>
          </a:p>
          <a:p>
            <a:pPr algn="l">
              <a:spcAft>
                <a:spcPts val="300"/>
              </a:spcAft>
            </a:pPr>
            <a:r>
              <a:rPr sz="1100" b="0">
                <a:solidFill>
                  <a:srgbClr val="5B6372"/>
                </a:solidFill>
                <a:latin typeface="Arial"/>
              </a:rPr>
              <a:t>After measuring m, the state becomes |m&gt;. The superposition is destroyed.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Grouping</a:t>
            </a:r>
          </a:p>
          <a:p>
            <a:pPr algn="l">
              <a:spcAft>
                <a:spcPts val="300"/>
              </a:spcAft>
            </a:pPr>
            <a:r>
              <a:rPr sz="1100" b="0">
                <a:solidFill>
                  <a:srgbClr val="5B6372"/>
                </a:solidFill>
                <a:latin typeface="Arial"/>
              </a:rPr>
              <a:t>Postulates 1–2 describe state and deterministic evolution; 3–5 describe measurement.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 PLATFORMS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Computing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6309360" cy="397763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630936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011679"/>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2011679"/>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2011679"/>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20240" y="1965959"/>
            <a:ext cx="4937760" cy="2468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57400" y="1965959"/>
            <a:ext cx="4754880" cy="246888"/>
          </a:xfrm>
          <a:prstGeom prst="rect">
            <a:avLst/>
          </a:prstGeom>
          <a:noFill/>
        </p:spPr>
        <p:txBody>
          <a:bodyPr wrap="square" anchor="ctr">
            <a:spAutoFit/>
          </a:bodyPr>
          <a:lstStyle/>
          <a:p>
            <a:pPr algn="l">
              <a:spcAft>
                <a:spcPts val="400"/>
              </a:spcAft>
            </a:pPr>
            <a:r>
              <a:rPr sz="1000" b="0">
                <a:solidFill>
                  <a:srgbClr val="5B6372"/>
                </a:solidFill>
                <a:latin typeface="Arial"/>
              </a:rPr>
              <a:t>https://quantum.cloud.ibm.com/composer</a:t>
            </a:r>
          </a:p>
        </p:txBody>
      </p:sp>
      <p:pic>
        <p:nvPicPr>
          <p:cNvPr id="14" name="Picture 13" descr="ibm-composer.png"/>
          <p:cNvPicPr>
            <a:picLocks noChangeAspect="1"/>
          </p:cNvPicPr>
          <p:nvPr/>
        </p:nvPicPr>
        <p:blipFill>
          <a:blip r:embed="rId2"/>
          <a:stretch>
            <a:fillRect/>
          </a:stretch>
        </p:blipFill>
        <p:spPr>
          <a:xfrm>
            <a:off x="980414" y="2423159"/>
            <a:ext cx="5903012" cy="3291839"/>
          </a:xfrm>
          <a:prstGeom prst="rect">
            <a:avLst/>
          </a:prstGeom>
        </p:spPr>
      </p:pic>
      <p:sp>
        <p:nvSpPr>
          <p:cNvPr id="15" name="Rectangle 14"/>
          <p:cNvSpPr/>
          <p:nvPr/>
        </p:nvSpPr>
        <p:spPr>
          <a:xfrm>
            <a:off x="7360920" y="1874519"/>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1874519"/>
            <a:ext cx="82296" cy="6784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62088" y="200344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62088" y="2003449"/>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9" name="TextBox 18"/>
          <p:cNvSpPr txBox="1"/>
          <p:nvPr/>
        </p:nvSpPr>
        <p:spPr>
          <a:xfrm>
            <a:off x="8138160" y="1874519"/>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IBM Quantum Composer — drag-and-drop circuits, simulator and real hardware. Our main tool.</a:t>
            </a:r>
          </a:p>
        </p:txBody>
      </p:sp>
      <p:sp>
        <p:nvSpPr>
          <p:cNvPr id="20" name="Rectangle 19"/>
          <p:cNvSpPr/>
          <p:nvPr/>
        </p:nvSpPr>
        <p:spPr>
          <a:xfrm>
            <a:off x="7360920" y="2699307"/>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60920" y="2699307"/>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562088" y="282823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62088" y="2828237"/>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4" name="TextBox 23"/>
          <p:cNvSpPr txBox="1"/>
          <p:nvPr/>
        </p:nvSpPr>
        <p:spPr>
          <a:xfrm>
            <a:off x="8138160" y="2699307"/>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IBM Quantum Platform — job queue, backends and calibration data.</a:t>
            </a:r>
          </a:p>
        </p:txBody>
      </p:sp>
      <p:sp>
        <p:nvSpPr>
          <p:cNvPr id="25" name="Rectangle 24"/>
          <p:cNvSpPr/>
          <p:nvPr/>
        </p:nvSpPr>
        <p:spPr>
          <a:xfrm>
            <a:off x="7360920" y="3524095"/>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60920" y="3524095"/>
            <a:ext cx="82296" cy="6784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62088" y="3653025"/>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62088" y="3653025"/>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9" name="TextBox 28"/>
          <p:cNvSpPr txBox="1"/>
          <p:nvPr/>
        </p:nvSpPr>
        <p:spPr>
          <a:xfrm>
            <a:off x="8138160" y="3524095"/>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Quirk (algassert.com/quirk) — instant in-browser statevector visualisation.</a:t>
            </a:r>
          </a:p>
        </p:txBody>
      </p:sp>
      <p:sp>
        <p:nvSpPr>
          <p:cNvPr id="30" name="Rectangle 29"/>
          <p:cNvSpPr/>
          <p:nvPr/>
        </p:nvSpPr>
        <p:spPr>
          <a:xfrm>
            <a:off x="7360920" y="4348883"/>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0920" y="4348883"/>
            <a:ext cx="82296" cy="6784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562088" y="4477813"/>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62088" y="4477813"/>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8138160" y="4348883"/>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Quantum Circuit Designer — thequantumlaend.de, good for larger Grover circuits.</a:t>
            </a:r>
          </a:p>
        </p:txBody>
      </p:sp>
      <p:sp>
        <p:nvSpPr>
          <p:cNvPr id="35" name="Rectangle 34"/>
          <p:cNvSpPr/>
          <p:nvPr/>
        </p:nvSpPr>
        <p:spPr>
          <a:xfrm>
            <a:off x="7360920" y="5173671"/>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60920" y="5173671"/>
            <a:ext cx="82296" cy="6784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62088" y="5302601"/>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62088" y="5302601"/>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39" name="TextBox 38"/>
          <p:cNvSpPr txBox="1"/>
          <p:nvPr/>
        </p:nvSpPr>
        <p:spPr>
          <a:xfrm>
            <a:off x="8138160" y="5173671"/>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Qiskit and PennyLane — Python SDKs for coding circuits programmatically.</a:t>
            </a:r>
          </a:p>
        </p:txBody>
      </p:sp>
      <p:sp>
        <p:nvSpPr>
          <p:cNvPr id="40" name="TextBox 39"/>
          <p:cNvSpPr txBox="1"/>
          <p:nvPr/>
        </p:nvSpPr>
        <p:spPr>
          <a:xfrm>
            <a:off x="777240" y="5943600"/>
            <a:ext cx="10634472" cy="320040"/>
          </a:xfrm>
          <a:prstGeom prst="rect">
            <a:avLst/>
          </a:prstGeom>
          <a:noFill/>
        </p:spPr>
        <p:txBody>
          <a:bodyPr wrap="square" anchor="t">
            <a:spAutoFit/>
          </a:bodyPr>
          <a:lstStyle/>
          <a:p>
            <a:pPr algn="l">
              <a:spcAft>
                <a:spcPts val="400"/>
              </a:spcAft>
            </a:pPr>
            <a:r>
              <a:rPr sz="1200" b="0">
                <a:solidFill>
                  <a:srgbClr val="5B6372"/>
                </a:solidFill>
                <a:latin typeface="Arial"/>
              </a:rPr>
              <a:t>Every lab in this course runs on IBM Quantum Composer — no installation, no cost, works in any browser.</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WHY INDUSTRY CARES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Use Cases of Quantum Computing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Chemistry &amp; pharma</a:t>
            </a:r>
          </a:p>
          <a:p>
            <a:pPr algn="l">
              <a:spcAft>
                <a:spcPts val="300"/>
              </a:spcAft>
            </a:pPr>
            <a:r>
              <a:rPr sz="1100" b="0">
                <a:solidFill>
                  <a:srgbClr val="5B6372"/>
                </a:solidFill>
                <a:latin typeface="Arial"/>
              </a:rPr>
              <a:t>Simulate molecules exactly — drug discovery, catalysts, nitrogen fixation.</a:t>
            </a:r>
          </a:p>
        </p:txBody>
      </p:sp>
      <p:sp>
        <p:nvSpPr>
          <p:cNvPr id="12" name="Rectangle 11"/>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69536"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9536"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5401056" y="1892808"/>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Finance</a:t>
            </a:r>
          </a:p>
          <a:p>
            <a:pPr algn="l">
              <a:spcAft>
                <a:spcPts val="300"/>
              </a:spcAft>
            </a:pPr>
            <a:r>
              <a:rPr sz="1100" b="0">
                <a:solidFill>
                  <a:srgbClr val="5B6372"/>
                </a:solidFill>
                <a:latin typeface="Arial"/>
              </a:rPr>
              <a:t>Portfolio optimisation, derivative pricing and risk analysis by quantum Monte Carlo.</a:t>
            </a:r>
          </a:p>
        </p:txBody>
      </p:sp>
      <p:sp>
        <p:nvSpPr>
          <p:cNvPr id="17" name="Rectangle 16"/>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305800" y="254203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5800"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9037320" y="1892808"/>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Logistics</a:t>
            </a:r>
          </a:p>
          <a:p>
            <a:pPr algn="l">
              <a:spcAft>
                <a:spcPts val="300"/>
              </a:spcAft>
            </a:pPr>
            <a:r>
              <a:rPr sz="1100" b="0">
                <a:solidFill>
                  <a:srgbClr val="5B6372"/>
                </a:solidFill>
                <a:latin typeface="Arial"/>
              </a:rPr>
              <a:t>Route and fleet optimisation, scheduling and supply-chain planning (QAOA).</a:t>
            </a:r>
          </a:p>
        </p:txBody>
      </p:sp>
      <p:sp>
        <p:nvSpPr>
          <p:cNvPr id="22" name="Rectangle 21"/>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64792" y="4197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Materials science</a:t>
            </a:r>
          </a:p>
          <a:p>
            <a:pPr algn="l">
              <a:spcAft>
                <a:spcPts val="300"/>
              </a:spcAft>
            </a:pPr>
            <a:r>
              <a:rPr sz="1100" b="0">
                <a:solidFill>
                  <a:srgbClr val="5B6372"/>
                </a:solidFill>
                <a:latin typeface="Arial"/>
              </a:rPr>
              <a:t>Design superconductors, batteries and novel materials from first principles.</a:t>
            </a:r>
          </a:p>
        </p:txBody>
      </p:sp>
      <p:sp>
        <p:nvSpPr>
          <p:cNvPr id="27" name="Rectangle 26"/>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669536" y="484632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669536"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5401056" y="4197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Cryptography</a:t>
            </a:r>
          </a:p>
          <a:p>
            <a:pPr algn="l">
              <a:spcAft>
                <a:spcPts val="300"/>
              </a:spcAft>
            </a:pPr>
            <a:r>
              <a:rPr sz="1100" b="0">
                <a:solidFill>
                  <a:srgbClr val="5B6372"/>
                </a:solidFill>
                <a:latin typeface="Arial"/>
              </a:rPr>
              <a:t>Shor's algorithm threatens RSA/ECC; QKD offers physics-based key exchange.</a:t>
            </a:r>
          </a:p>
        </p:txBody>
      </p:sp>
      <p:sp>
        <p:nvSpPr>
          <p:cNvPr id="32" name="Rectangle 31"/>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305800" y="484632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05800"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9037320" y="4197096"/>
            <a:ext cx="2154936" cy="1883664"/>
          </a:xfrm>
          <a:prstGeom prst="rect">
            <a:avLst/>
          </a:prstGeom>
          <a:noFill/>
        </p:spPr>
        <p:txBody>
          <a:bodyPr wrap="square" anchor="ctr">
            <a:spAutoFit/>
          </a:bodyPr>
          <a:lstStyle/>
          <a:p>
            <a:pPr algn="l">
              <a:spcAft>
                <a:spcPts val="300"/>
              </a:spcAft>
            </a:pPr>
            <a:r>
              <a:rPr sz="1400" b="1">
                <a:solidFill>
                  <a:srgbClr val="161B26"/>
                </a:solidFill>
                <a:latin typeface="Arial"/>
              </a:rPr>
              <a:t>Machine learning</a:t>
            </a:r>
          </a:p>
          <a:p>
            <a:pPr algn="l">
              <a:spcAft>
                <a:spcPts val="300"/>
              </a:spcAft>
            </a:pPr>
            <a:r>
              <a:rPr sz="1100" b="0">
                <a:solidFill>
                  <a:srgbClr val="5B6372"/>
                </a:solidFill>
                <a:latin typeface="Arial"/>
              </a:rPr>
              <a:t>Quantum kernels, variational classifiers and quantum-enhanced optimisation.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 ON IBM QUANTUM COMPOSER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Introduction to Quantum Computing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300" b="0">
                <a:solidFill>
                  <a:srgbClr val="161B26"/>
                </a:solidFill>
                <a:latin typeface="Arial"/>
              </a:rPr>
              <a:t>•  Explore the Qubit on the Bloch Sphere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300" b="0">
                <a:solidFill>
                  <a:srgbClr val="161B26"/>
                </a:solidFill>
                <a:latin typeface="Arial"/>
              </a:rPr>
              <a:t>•  Observe Superposition and Interference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300" b="0">
                <a:solidFill>
                  <a:srgbClr val="161B26"/>
                </a:solidFill>
                <a:latin typeface="Arial"/>
              </a:rPr>
              <a:t>•  Create Your First Entangled Pair (Bell State)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Explore the Qubit on the Bloch Sphere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Bloch Sphere Simulator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Use an interactive Bloch-sphere simulator to see what a qubit actually is: a point on a sphere. Apply X, H and Z and watch the state vector move, so that every gate you meet later has a picture attached to it.</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Open the Bloch sphere simulator and identify the three…</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Confirm the qubit starts at the north pole — the state…</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Apply the X gate</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Reset, then apply H</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With the state at |+&gt;, apply Z</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A worked set of Bloch-sphere states (|0&gt;, |1&gt;, |+&gt;, |-&gt;) and the gates that produce them.</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1</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Observe Superposition and Interference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Build the smallest possible quantum circuit — a single Hadamard gate — on IBM Quantum Composer, run it on the simulator, and read the probability histogram. Then add a second Hadamard to see interference cancel the superposition completely.</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Sign in to IBM Quantum and open the Composer from the…</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Create a new circuit and set the circuit width to 1 qubit…</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Drag an H gate onto qubit q[0], then drag a Measure…</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Open the OpenQASM editor and confirm the code reads: h…</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Run the circuit on the simulator with 1024 shots and read…</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Two single-qubit circuits: H (a 50/50 random bit) and H-H (a deterministic 0), with their histograms.</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2</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Create Your First Entangled Pair (Bell State)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Build the Bell state (|00&gt; + |11&gt;)/sqrt(2) on IBM Quantum Composer with just H and CNOT, and confirm from the histogram that the two qubits are perfectly correlated — the signature of entanglement.</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Open a new circuit in IBM Quantum Composer with 2 qubits…</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Place an H gate on q[0]</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Place a CNOT with the control on q[0] and the target on…</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Measure operations on both q[0] and q[1]</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Inspect the statevector panel: the amplitudes are…</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A 2-qubit Bell-state circuit whose histogram shows only |00&gt; and |11&gt;, each near 50%.</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3</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30 minutes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01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Introduction to Quantum Computing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A qubit is a superposition of |0&gt; and |1&gt;, drawn as a point on the Bloch sphere.</a:t>
            </a:r>
          </a:p>
          <a:p>
            <a:pPr>
              <a:spcAft>
                <a:spcPts val="1000"/>
              </a:spcAft>
            </a:pPr>
            <a:r>
              <a:rPr sz="1700" b="0">
                <a:solidFill>
                  <a:srgbClr val="161B26"/>
                </a:solidFill>
                <a:latin typeface="Arial"/>
              </a:rPr>
              <a:t>•  Superposition plus interference is what makes quantum algorithms faster — not randomness alone.</a:t>
            </a:r>
          </a:p>
          <a:p>
            <a:pPr>
              <a:spcAft>
                <a:spcPts val="1000"/>
              </a:spcAft>
            </a:pPr>
            <a:r>
              <a:rPr sz="1700" b="0">
                <a:solidFill>
                  <a:srgbClr val="161B26"/>
                </a:solidFill>
                <a:latin typeface="Arial"/>
              </a:rPr>
              <a:t>•  Entanglement links qubits so that measuring one determines the other; test separability with ad = bc.</a:t>
            </a:r>
          </a:p>
          <a:p>
            <a:pPr>
              <a:spcAft>
                <a:spcPts val="1000"/>
              </a:spcAft>
            </a:pPr>
            <a:r>
              <a:rPr sz="1700" b="0">
                <a:solidFill>
                  <a:srgbClr val="161B26"/>
                </a:solidFill>
                <a:latin typeface="Arial"/>
              </a:rPr>
              <a:t>•  Any two-level quantum system works as a qubit — superconducting, trapped ion, photonic or topological.</a:t>
            </a:r>
          </a:p>
          <a:p>
            <a:pPr>
              <a:spcAft>
                <a:spcPts val="1000"/>
              </a:spcAft>
            </a:pPr>
            <a:r>
              <a:rPr sz="1700" b="0">
                <a:solidFill>
                  <a:srgbClr val="161B26"/>
                </a:solidFill>
                <a:latin typeface="Arial"/>
              </a:rPr>
              <a:t>•  IBM Quantum Composer gives you a free simulator and real hardware in the browser.</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States and Gates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Quantum State Vector Representations  ·  Quantum Circuits and Quantum Gates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THE ALGEBRA</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Gates Are Unitary Matrices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ate-matrices.png"/>
          <p:cNvPicPr>
            <a:picLocks noChangeAspect="1"/>
          </p:cNvPicPr>
          <p:nvPr/>
        </p:nvPicPr>
        <p:blipFill>
          <a:blip r:embed="rId2"/>
          <a:stretch>
            <a:fillRect/>
          </a:stretch>
        </p:blipFill>
        <p:spPr>
          <a:xfrm>
            <a:off x="777240" y="2225039"/>
            <a:ext cx="6309360" cy="3505200"/>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Gates rotate the state vector on the Bloch sphere.</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Unitary</a:t>
            </a:r>
          </a:p>
          <a:p>
            <a:pPr algn="l">
              <a:spcAft>
                <a:spcPts val="300"/>
              </a:spcAft>
            </a:pPr>
            <a:r>
              <a:rPr sz="1150" b="0">
                <a:solidFill>
                  <a:srgbClr val="161B26"/>
                </a:solidFill>
                <a:latin typeface="Arial"/>
              </a:rPr>
              <a:t>U times U-dagger = I. Every gate is reversible — no information is ever destroyed.</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Acting on a vector</a:t>
            </a:r>
          </a:p>
          <a:p>
            <a:pPr algn="l">
              <a:spcAft>
                <a:spcPts val="300"/>
              </a:spcAft>
            </a:pPr>
            <a:r>
              <a:rPr sz="1150" b="0">
                <a:solidFill>
                  <a:srgbClr val="161B26"/>
                </a:solidFill>
                <a:latin typeface="Arial"/>
              </a:rPr>
              <a:t>A gate multiplies the state vector: |psi'&gt; = U|psi&gt;.</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Single vs multi-qubit</a:t>
            </a:r>
          </a:p>
          <a:p>
            <a:pPr algn="l">
              <a:spcAft>
                <a:spcPts val="300"/>
              </a:spcAft>
            </a:pPr>
            <a:r>
              <a:rPr sz="1150" b="0">
                <a:solidFill>
                  <a:srgbClr val="161B26"/>
                </a:solidFill>
                <a:latin typeface="Arial"/>
              </a:rPr>
              <a:t>1-qubit gates are 2x2; 2-qubit gates are 4x4; an n-qubit gate is 2^n x 2^n.</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Universality</a:t>
            </a:r>
          </a:p>
          <a:p>
            <a:pPr algn="l">
              <a:spcAft>
                <a:spcPts val="300"/>
              </a:spcAft>
            </a:pPr>
            <a:r>
              <a:rPr sz="1150" b="0">
                <a:solidFill>
                  <a:srgbClr val="161B26"/>
                </a:solidFill>
                <a:latin typeface="Arial"/>
              </a:rPr>
              <a:t>A small gate set (e.g. H, T and CNOT) can approximate ANY quantum computation.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THREE PAULI GATES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Pauli Gates — X, Y and Z</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48839"/>
            <a:ext cx="2904744" cy="548640"/>
          </a:xfrm>
          <a:prstGeom prst="rect">
            <a:avLst/>
          </a:prstGeom>
          <a:noFill/>
        </p:spPr>
        <p:txBody>
          <a:bodyPr wrap="square" anchor="t">
            <a:spAutoFit/>
          </a:bodyPr>
          <a:lstStyle/>
          <a:p>
            <a:pPr algn="l">
              <a:spcAft>
                <a:spcPts val="400"/>
              </a:spcAft>
            </a:pPr>
            <a:r>
              <a:rPr sz="1600" b="1">
                <a:solidFill>
                  <a:srgbClr val="1F6FEB"/>
                </a:solidFill>
                <a:latin typeface="Arial"/>
              </a:rPr>
              <a:t>Pauli X · NOT</a:t>
            </a:r>
          </a:p>
        </p:txBody>
      </p:sp>
      <p:sp>
        <p:nvSpPr>
          <p:cNvPr id="10" name="Rectangle 9"/>
          <p:cNvSpPr/>
          <p:nvPr/>
        </p:nvSpPr>
        <p:spPr>
          <a:xfrm>
            <a:off x="1005840" y="2834639"/>
            <a:ext cx="2904744"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2721864" cy="1371600"/>
          </a:xfrm>
          <a:prstGeom prst="rect">
            <a:avLst/>
          </a:prstGeom>
          <a:noFill/>
        </p:spPr>
        <p:txBody>
          <a:bodyPr wrap="square" anchor="ctr">
            <a:spAutoFit/>
          </a:bodyPr>
          <a:lstStyle/>
          <a:p>
            <a:pPr algn="ctr">
              <a:spcAft>
                <a:spcPts val="400"/>
              </a:spcAft>
            </a:pPr>
            <a:r>
              <a:rPr sz="1400" b="1">
                <a:solidFill>
                  <a:srgbClr val="9CDCFE"/>
                </a:solidFill>
                <a:latin typeface="Arial"/>
              </a:rPr>
              <a:t>X = [[0, 1],
     [1, 0]]
X|0&gt; = |1&gt;
X|1&gt; = |0&gt;</a:t>
            </a:r>
          </a:p>
        </p:txBody>
      </p:sp>
      <p:sp>
        <p:nvSpPr>
          <p:cNvPr id="12" name="TextBox 11"/>
          <p:cNvSpPr txBox="1"/>
          <p:nvPr/>
        </p:nvSpPr>
        <p:spPr>
          <a:xfrm>
            <a:off x="1005840" y="4389119"/>
            <a:ext cx="2904744" cy="1463040"/>
          </a:xfrm>
          <a:prstGeom prst="rect">
            <a:avLst/>
          </a:prstGeom>
          <a:noFill/>
        </p:spPr>
        <p:txBody>
          <a:bodyPr wrap="square" anchor="t">
            <a:spAutoFit/>
          </a:bodyPr>
          <a:lstStyle/>
          <a:p>
            <a:pPr algn="l">
              <a:spcAft>
                <a:spcPts val="400"/>
              </a:spcAft>
            </a:pPr>
            <a:r>
              <a:rPr sz="1200" b="0">
                <a:solidFill>
                  <a:srgbClr val="5B6372"/>
                </a:solidFill>
                <a:latin typeface="Arial"/>
              </a:rPr>
              <a:t>A 180-degree rotation about the X axis. The quantum NOT gate — it flips the bit.</a:t>
            </a:r>
          </a:p>
        </p:txBody>
      </p:sp>
      <p:sp>
        <p:nvSpPr>
          <p:cNvPr id="13" name="Rectangle 12"/>
          <p:cNvSpPr/>
          <p:nvPr/>
        </p:nvSpPr>
        <p:spPr>
          <a:xfrm>
            <a:off x="4413504" y="1874519"/>
            <a:ext cx="3361944"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2104" y="2148839"/>
            <a:ext cx="2904744" cy="548640"/>
          </a:xfrm>
          <a:prstGeom prst="rect">
            <a:avLst/>
          </a:prstGeom>
          <a:noFill/>
        </p:spPr>
        <p:txBody>
          <a:bodyPr wrap="square" anchor="t">
            <a:spAutoFit/>
          </a:bodyPr>
          <a:lstStyle/>
          <a:p>
            <a:pPr algn="l">
              <a:spcAft>
                <a:spcPts val="400"/>
              </a:spcAft>
            </a:pPr>
            <a:r>
              <a:rPr sz="1600" b="1">
                <a:solidFill>
                  <a:srgbClr val="10B981"/>
                </a:solidFill>
                <a:latin typeface="Arial"/>
              </a:rPr>
              <a:t>Pauli Y</a:t>
            </a:r>
          </a:p>
        </p:txBody>
      </p:sp>
      <p:sp>
        <p:nvSpPr>
          <p:cNvPr id="16" name="Rectangle 15"/>
          <p:cNvSpPr/>
          <p:nvPr/>
        </p:nvSpPr>
        <p:spPr>
          <a:xfrm>
            <a:off x="4642104" y="2834639"/>
            <a:ext cx="2904744"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33544" y="2834639"/>
            <a:ext cx="2721864" cy="1371600"/>
          </a:xfrm>
          <a:prstGeom prst="rect">
            <a:avLst/>
          </a:prstGeom>
          <a:noFill/>
        </p:spPr>
        <p:txBody>
          <a:bodyPr wrap="square" anchor="ctr">
            <a:spAutoFit/>
          </a:bodyPr>
          <a:lstStyle/>
          <a:p>
            <a:pPr algn="ctr">
              <a:spcAft>
                <a:spcPts val="400"/>
              </a:spcAft>
            </a:pPr>
            <a:r>
              <a:rPr sz="1400" b="1">
                <a:solidFill>
                  <a:srgbClr val="9CDCFE"/>
                </a:solidFill>
                <a:latin typeface="Arial"/>
              </a:rPr>
              <a:t>Y = [[0, -i],
     [i,  0]]
Y|0&gt; = i|1&gt;</a:t>
            </a:r>
          </a:p>
        </p:txBody>
      </p:sp>
      <p:sp>
        <p:nvSpPr>
          <p:cNvPr id="18" name="TextBox 17"/>
          <p:cNvSpPr txBox="1"/>
          <p:nvPr/>
        </p:nvSpPr>
        <p:spPr>
          <a:xfrm>
            <a:off x="4642104" y="4389119"/>
            <a:ext cx="2904744" cy="1463040"/>
          </a:xfrm>
          <a:prstGeom prst="rect">
            <a:avLst/>
          </a:prstGeom>
          <a:noFill/>
        </p:spPr>
        <p:txBody>
          <a:bodyPr wrap="square" anchor="t">
            <a:spAutoFit/>
          </a:bodyPr>
          <a:lstStyle/>
          <a:p>
            <a:pPr algn="l">
              <a:spcAft>
                <a:spcPts val="400"/>
              </a:spcAft>
            </a:pPr>
            <a:r>
              <a:rPr sz="1200" b="0">
                <a:solidFill>
                  <a:srgbClr val="5B6372"/>
                </a:solidFill>
                <a:latin typeface="Arial"/>
              </a:rPr>
              <a:t>A 180-degree rotation about the Y axis. Combines a bit flip and a phase flip (Y = iXZ).</a:t>
            </a:r>
          </a:p>
        </p:txBody>
      </p:sp>
      <p:sp>
        <p:nvSpPr>
          <p:cNvPr id="19" name="Rectangle 18"/>
          <p:cNvSpPr/>
          <p:nvPr/>
        </p:nvSpPr>
        <p:spPr>
          <a:xfrm>
            <a:off x="8049768" y="1874519"/>
            <a:ext cx="3361944"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8368" y="2148839"/>
            <a:ext cx="2904744" cy="548640"/>
          </a:xfrm>
          <a:prstGeom prst="rect">
            <a:avLst/>
          </a:prstGeom>
          <a:noFill/>
        </p:spPr>
        <p:txBody>
          <a:bodyPr wrap="square" anchor="t">
            <a:spAutoFit/>
          </a:bodyPr>
          <a:lstStyle/>
          <a:p>
            <a:pPr algn="l">
              <a:spcAft>
                <a:spcPts val="400"/>
              </a:spcAft>
            </a:pPr>
            <a:r>
              <a:rPr sz="1600" b="1">
                <a:solidFill>
                  <a:srgbClr val="7C3AED"/>
                </a:solidFill>
                <a:latin typeface="Arial"/>
              </a:rPr>
              <a:t>Pauli Z · phase flip</a:t>
            </a:r>
          </a:p>
        </p:txBody>
      </p:sp>
      <p:sp>
        <p:nvSpPr>
          <p:cNvPr id="22" name="Rectangle 21"/>
          <p:cNvSpPr/>
          <p:nvPr/>
        </p:nvSpPr>
        <p:spPr>
          <a:xfrm>
            <a:off x="8278368" y="2834639"/>
            <a:ext cx="2904744"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9808" y="2834639"/>
            <a:ext cx="2721864" cy="1371600"/>
          </a:xfrm>
          <a:prstGeom prst="rect">
            <a:avLst/>
          </a:prstGeom>
          <a:noFill/>
        </p:spPr>
        <p:txBody>
          <a:bodyPr wrap="square" anchor="ctr">
            <a:spAutoFit/>
          </a:bodyPr>
          <a:lstStyle/>
          <a:p>
            <a:pPr algn="ctr">
              <a:spcAft>
                <a:spcPts val="400"/>
              </a:spcAft>
            </a:pPr>
            <a:r>
              <a:rPr sz="1400" b="1">
                <a:solidFill>
                  <a:srgbClr val="9CDCFE"/>
                </a:solidFill>
                <a:latin typeface="Arial"/>
              </a:rPr>
              <a:t>Z = [[1,  0],
     [0, -1]]
Z|+&gt; = |-&gt;</a:t>
            </a:r>
          </a:p>
        </p:txBody>
      </p:sp>
      <p:sp>
        <p:nvSpPr>
          <p:cNvPr id="24" name="TextBox 23"/>
          <p:cNvSpPr txBox="1"/>
          <p:nvPr/>
        </p:nvSpPr>
        <p:spPr>
          <a:xfrm>
            <a:off x="8278368" y="4389119"/>
            <a:ext cx="2904744" cy="1463040"/>
          </a:xfrm>
          <a:prstGeom prst="rect">
            <a:avLst/>
          </a:prstGeom>
          <a:noFill/>
        </p:spPr>
        <p:txBody>
          <a:bodyPr wrap="square" anchor="t">
            <a:spAutoFit/>
          </a:bodyPr>
          <a:lstStyle/>
          <a:p>
            <a:pPr algn="l">
              <a:spcAft>
                <a:spcPts val="400"/>
              </a:spcAft>
            </a:pPr>
            <a:r>
              <a:rPr sz="1200" b="0">
                <a:solidFill>
                  <a:srgbClr val="5B6372"/>
                </a:solidFill>
                <a:latin typeface="Arial"/>
              </a:rPr>
              <a:t>A 180-degree rotation about the Z axis. Leaves |0&gt; alone and negates |1&gt; — invisible to measurement alone.</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REMEMBER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Properties of the Pauli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Self-inverse</a:t>
            </a:r>
          </a:p>
          <a:p>
            <a:pPr algn="l">
              <a:spcAft>
                <a:spcPts val="300"/>
              </a:spcAft>
            </a:pPr>
            <a:r>
              <a:rPr sz="1100" b="0">
                <a:solidFill>
                  <a:srgbClr val="5B6372"/>
                </a:solidFill>
                <a:latin typeface="Arial"/>
              </a:rPr>
              <a:t>X.X = Y.Y = Z.Z = I — apply any Pauli twice and you are back where you started.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Hermitian and unitary</a:t>
            </a:r>
          </a:p>
          <a:p>
            <a:pPr algn="l">
              <a:spcAft>
                <a:spcPts val="300"/>
              </a:spcAft>
            </a:pPr>
            <a:r>
              <a:rPr sz="1100" b="0">
                <a:solidFill>
                  <a:srgbClr val="5B6372"/>
                </a:solidFill>
                <a:latin typeface="Arial"/>
              </a:rPr>
              <a:t>Each Pauli is its own conjugate transpose AND its own inverse.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Anticommuting</a:t>
            </a:r>
          </a:p>
          <a:p>
            <a:pPr algn="l">
              <a:spcAft>
                <a:spcPts val="300"/>
              </a:spcAft>
            </a:pPr>
            <a:r>
              <a:rPr sz="1100" b="0">
                <a:solidFill>
                  <a:srgbClr val="5B6372"/>
                </a:solidFill>
                <a:latin typeface="Arial"/>
              </a:rPr>
              <a:t>XY = -YX, YZ = -ZY, ZX = -XZ. Order matters, and swapping it costs a minus sign.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Eigenvalues</a:t>
            </a:r>
          </a:p>
          <a:p>
            <a:pPr algn="l">
              <a:spcAft>
                <a:spcPts val="300"/>
              </a:spcAft>
            </a:pPr>
            <a:r>
              <a:rPr sz="1100" b="0">
                <a:solidFill>
                  <a:srgbClr val="5B6372"/>
                </a:solidFill>
                <a:latin typeface="Arial"/>
              </a:rPr>
              <a:t>Every Pauli has eigenvalues +1 and -1 — the two possible measurement outcomes.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Z eigenstates</a:t>
            </a:r>
          </a:p>
          <a:p>
            <a:pPr algn="l">
              <a:spcAft>
                <a:spcPts val="300"/>
              </a:spcAft>
            </a:pPr>
            <a:r>
              <a:rPr sz="1100" b="0">
                <a:solidFill>
                  <a:srgbClr val="5B6372"/>
                </a:solidFill>
                <a:latin typeface="Arial"/>
              </a:rPr>
              <a:t>|0&gt; and |1&gt; — the computational basis.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X eigenstates</a:t>
            </a:r>
          </a:p>
          <a:p>
            <a:pPr algn="l">
              <a:spcAft>
                <a:spcPts val="300"/>
              </a:spcAft>
            </a:pPr>
            <a:r>
              <a:rPr sz="1100" b="0">
                <a:solidFill>
                  <a:srgbClr val="5B6372"/>
                </a:solidFill>
                <a:latin typeface="Arial"/>
              </a:rPr>
              <a:t>|+&gt; and |-&gt; — the Hadamard basis, used by BB84.</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WORKHORSE GATE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Hadamard Gate — Making Superposition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48839"/>
            <a:ext cx="2904744" cy="548640"/>
          </a:xfrm>
          <a:prstGeom prst="rect">
            <a:avLst/>
          </a:prstGeom>
          <a:noFill/>
        </p:spPr>
        <p:txBody>
          <a:bodyPr wrap="square" anchor="t">
            <a:spAutoFit/>
          </a:bodyPr>
          <a:lstStyle/>
          <a:p>
            <a:pPr algn="l">
              <a:spcAft>
                <a:spcPts val="400"/>
              </a:spcAft>
            </a:pPr>
            <a:r>
              <a:rPr sz="1600" b="1">
                <a:solidFill>
                  <a:srgbClr val="1F6FEB"/>
                </a:solidFill>
                <a:latin typeface="Arial"/>
              </a:rPr>
              <a:t>The matrix</a:t>
            </a:r>
          </a:p>
        </p:txBody>
      </p:sp>
      <p:sp>
        <p:nvSpPr>
          <p:cNvPr id="10" name="Rectangle 9"/>
          <p:cNvSpPr/>
          <p:nvPr/>
        </p:nvSpPr>
        <p:spPr>
          <a:xfrm>
            <a:off x="1005840" y="2834639"/>
            <a:ext cx="2904744"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2721864" cy="1371600"/>
          </a:xfrm>
          <a:prstGeom prst="rect">
            <a:avLst/>
          </a:prstGeom>
          <a:noFill/>
        </p:spPr>
        <p:txBody>
          <a:bodyPr wrap="square" anchor="ctr">
            <a:spAutoFit/>
          </a:bodyPr>
          <a:lstStyle/>
          <a:p>
            <a:pPr algn="ctr">
              <a:spcAft>
                <a:spcPts val="400"/>
              </a:spcAft>
            </a:pPr>
            <a:r>
              <a:rPr sz="1400" b="1">
                <a:solidFill>
                  <a:srgbClr val="9CDCFE"/>
                </a:solidFill>
                <a:latin typeface="Arial"/>
              </a:rPr>
              <a:t>H = (1/sqrt(2)) x
[[1,  1],
 [1, -1]]</a:t>
            </a:r>
          </a:p>
        </p:txBody>
      </p:sp>
      <p:sp>
        <p:nvSpPr>
          <p:cNvPr id="12" name="TextBox 11"/>
          <p:cNvSpPr txBox="1"/>
          <p:nvPr/>
        </p:nvSpPr>
        <p:spPr>
          <a:xfrm>
            <a:off x="1005840" y="4389119"/>
            <a:ext cx="2904744" cy="1463040"/>
          </a:xfrm>
          <a:prstGeom prst="rect">
            <a:avLst/>
          </a:prstGeom>
          <a:noFill/>
        </p:spPr>
        <p:txBody>
          <a:bodyPr wrap="square" anchor="t">
            <a:spAutoFit/>
          </a:bodyPr>
          <a:lstStyle/>
          <a:p>
            <a:pPr algn="l">
              <a:spcAft>
                <a:spcPts val="400"/>
              </a:spcAft>
            </a:pPr>
            <a:r>
              <a:rPr sz="1200" b="0">
                <a:solidFill>
                  <a:srgbClr val="5B6372"/>
                </a:solidFill>
                <a:latin typeface="Arial"/>
              </a:rPr>
              <a:t>The single most important gate. It maps the computational basis to the superposition basis.</a:t>
            </a:r>
          </a:p>
        </p:txBody>
      </p:sp>
      <p:sp>
        <p:nvSpPr>
          <p:cNvPr id="13" name="Rectangle 12"/>
          <p:cNvSpPr/>
          <p:nvPr/>
        </p:nvSpPr>
        <p:spPr>
          <a:xfrm>
            <a:off x="4413504" y="1874519"/>
            <a:ext cx="3361944"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2104" y="2148839"/>
            <a:ext cx="2904744" cy="548640"/>
          </a:xfrm>
          <a:prstGeom prst="rect">
            <a:avLst/>
          </a:prstGeom>
          <a:noFill/>
        </p:spPr>
        <p:txBody>
          <a:bodyPr wrap="square" anchor="t">
            <a:spAutoFit/>
          </a:bodyPr>
          <a:lstStyle/>
          <a:p>
            <a:pPr algn="l">
              <a:spcAft>
                <a:spcPts val="400"/>
              </a:spcAft>
            </a:pPr>
            <a:r>
              <a:rPr sz="1600" b="1">
                <a:solidFill>
                  <a:srgbClr val="10B981"/>
                </a:solidFill>
                <a:latin typeface="Arial"/>
              </a:rPr>
              <a:t>Its action</a:t>
            </a:r>
          </a:p>
        </p:txBody>
      </p:sp>
      <p:sp>
        <p:nvSpPr>
          <p:cNvPr id="16" name="Rectangle 15"/>
          <p:cNvSpPr/>
          <p:nvPr/>
        </p:nvSpPr>
        <p:spPr>
          <a:xfrm>
            <a:off x="4642104" y="2834639"/>
            <a:ext cx="2904744"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33544" y="2834639"/>
            <a:ext cx="2721864" cy="1371600"/>
          </a:xfrm>
          <a:prstGeom prst="rect">
            <a:avLst/>
          </a:prstGeom>
          <a:noFill/>
        </p:spPr>
        <p:txBody>
          <a:bodyPr wrap="square" anchor="ctr">
            <a:spAutoFit/>
          </a:bodyPr>
          <a:lstStyle/>
          <a:p>
            <a:pPr algn="ctr">
              <a:spcAft>
                <a:spcPts val="400"/>
              </a:spcAft>
            </a:pPr>
            <a:r>
              <a:rPr sz="1400" b="1">
                <a:solidFill>
                  <a:srgbClr val="9CDCFE"/>
                </a:solidFill>
                <a:latin typeface="Arial"/>
              </a:rPr>
              <a:t>H|0&gt; = |+&gt;
H|1&gt; = |-&gt;
H|+&gt; = |0&gt;</a:t>
            </a:r>
          </a:p>
        </p:txBody>
      </p:sp>
      <p:sp>
        <p:nvSpPr>
          <p:cNvPr id="18" name="TextBox 17"/>
          <p:cNvSpPr txBox="1"/>
          <p:nvPr/>
        </p:nvSpPr>
        <p:spPr>
          <a:xfrm>
            <a:off x="4642104" y="4389119"/>
            <a:ext cx="2904744" cy="1463040"/>
          </a:xfrm>
          <a:prstGeom prst="rect">
            <a:avLst/>
          </a:prstGeom>
          <a:noFill/>
        </p:spPr>
        <p:txBody>
          <a:bodyPr wrap="square" anchor="t">
            <a:spAutoFit/>
          </a:bodyPr>
          <a:lstStyle/>
          <a:p>
            <a:pPr algn="l">
              <a:spcAft>
                <a:spcPts val="400"/>
              </a:spcAft>
            </a:pPr>
            <a:r>
              <a:rPr sz="1200" b="0">
                <a:solidFill>
                  <a:srgbClr val="5B6372"/>
                </a:solidFill>
                <a:latin typeface="Arial"/>
              </a:rPr>
              <a:t>Creates an equal superposition from a basis state, and converts it back. H is its own inverse: H.H = I.</a:t>
            </a:r>
          </a:p>
        </p:txBody>
      </p:sp>
      <p:sp>
        <p:nvSpPr>
          <p:cNvPr id="19" name="Rectangle 18"/>
          <p:cNvSpPr/>
          <p:nvPr/>
        </p:nvSpPr>
        <p:spPr>
          <a:xfrm>
            <a:off x="8049768" y="1874519"/>
            <a:ext cx="3361944"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8368" y="2148839"/>
            <a:ext cx="2904744" cy="548640"/>
          </a:xfrm>
          <a:prstGeom prst="rect">
            <a:avLst/>
          </a:prstGeom>
          <a:noFill/>
        </p:spPr>
        <p:txBody>
          <a:bodyPr wrap="square" anchor="t">
            <a:spAutoFit/>
          </a:bodyPr>
          <a:lstStyle/>
          <a:p>
            <a:pPr algn="l">
              <a:spcAft>
                <a:spcPts val="400"/>
              </a:spcAft>
            </a:pPr>
            <a:r>
              <a:rPr sz="1600" b="1">
                <a:solidFill>
                  <a:srgbClr val="7C3AED"/>
                </a:solidFill>
                <a:latin typeface="Arial"/>
              </a:rPr>
              <a:t>On n qubits</a:t>
            </a:r>
          </a:p>
        </p:txBody>
      </p:sp>
      <p:sp>
        <p:nvSpPr>
          <p:cNvPr id="22" name="Rectangle 21"/>
          <p:cNvSpPr/>
          <p:nvPr/>
        </p:nvSpPr>
        <p:spPr>
          <a:xfrm>
            <a:off x="8278368" y="2834639"/>
            <a:ext cx="2904744"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9808" y="2834639"/>
            <a:ext cx="2721864" cy="1371600"/>
          </a:xfrm>
          <a:prstGeom prst="rect">
            <a:avLst/>
          </a:prstGeom>
          <a:noFill/>
        </p:spPr>
        <p:txBody>
          <a:bodyPr wrap="square" anchor="ctr">
            <a:spAutoFit/>
          </a:bodyPr>
          <a:lstStyle/>
          <a:p>
            <a:pPr algn="ctr">
              <a:spcAft>
                <a:spcPts val="400"/>
              </a:spcAft>
            </a:pPr>
            <a:r>
              <a:rPr sz="1400" b="1">
                <a:solidFill>
                  <a:srgbClr val="9CDCFE"/>
                </a:solidFill>
                <a:latin typeface="Arial"/>
              </a:rPr>
              <a:t>H on every qubit gives
(1/sqrt(2^n)) sum over all x
of |x&gt;</a:t>
            </a:r>
          </a:p>
        </p:txBody>
      </p:sp>
      <p:sp>
        <p:nvSpPr>
          <p:cNvPr id="24" name="TextBox 23"/>
          <p:cNvSpPr txBox="1"/>
          <p:nvPr/>
        </p:nvSpPr>
        <p:spPr>
          <a:xfrm>
            <a:off x="8278368" y="4389119"/>
            <a:ext cx="2904744" cy="1463040"/>
          </a:xfrm>
          <a:prstGeom prst="rect">
            <a:avLst/>
          </a:prstGeom>
          <a:noFill/>
        </p:spPr>
        <p:txBody>
          <a:bodyPr wrap="square" anchor="t">
            <a:spAutoFit/>
          </a:bodyPr>
          <a:lstStyle/>
          <a:p>
            <a:pPr algn="l">
              <a:spcAft>
                <a:spcPts val="400"/>
              </a:spcAft>
            </a:pPr>
            <a:r>
              <a:rPr sz="1200" b="0">
                <a:solidFill>
                  <a:srgbClr val="5B6372"/>
                </a:solidFill>
                <a:latin typeface="Arial"/>
              </a:rPr>
              <a:t>One layer of Hadamards puts the register into a uniform superposition over ALL 2^n inputs — the first step of Deutsch-Jozsa, BV and Grover.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PARAMETERISED GATES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Rotation and Phase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3361944"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336194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148839"/>
            <a:ext cx="2904744" cy="548640"/>
          </a:xfrm>
          <a:prstGeom prst="rect">
            <a:avLst/>
          </a:prstGeom>
          <a:noFill/>
        </p:spPr>
        <p:txBody>
          <a:bodyPr wrap="square" anchor="t">
            <a:spAutoFit/>
          </a:bodyPr>
          <a:lstStyle/>
          <a:p>
            <a:pPr algn="l">
              <a:spcAft>
                <a:spcPts val="400"/>
              </a:spcAft>
            </a:pPr>
            <a:r>
              <a:rPr sz="1600" b="1">
                <a:solidFill>
                  <a:srgbClr val="1F6FEB"/>
                </a:solidFill>
                <a:latin typeface="Arial"/>
              </a:rPr>
              <a:t>RX, RY, RZ</a:t>
            </a:r>
          </a:p>
        </p:txBody>
      </p:sp>
      <p:sp>
        <p:nvSpPr>
          <p:cNvPr id="10" name="Rectangle 9"/>
          <p:cNvSpPr/>
          <p:nvPr/>
        </p:nvSpPr>
        <p:spPr>
          <a:xfrm>
            <a:off x="1005840" y="2834639"/>
            <a:ext cx="2904744"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2834639"/>
            <a:ext cx="2721864" cy="1371600"/>
          </a:xfrm>
          <a:prstGeom prst="rect">
            <a:avLst/>
          </a:prstGeom>
          <a:noFill/>
        </p:spPr>
        <p:txBody>
          <a:bodyPr wrap="square" anchor="ctr">
            <a:spAutoFit/>
          </a:bodyPr>
          <a:lstStyle/>
          <a:p>
            <a:pPr algn="ctr">
              <a:spcAft>
                <a:spcPts val="400"/>
              </a:spcAft>
            </a:pPr>
            <a:r>
              <a:rPr sz="1400" b="1">
                <a:solidFill>
                  <a:srgbClr val="9CDCFE"/>
                </a:solidFill>
                <a:latin typeface="Arial"/>
              </a:rPr>
              <a:t>RY(theta) =
[[cos(t/2), -sin(t/2)],
 [sin(t/2),  cos(t/2)]]</a:t>
            </a:r>
          </a:p>
        </p:txBody>
      </p:sp>
      <p:sp>
        <p:nvSpPr>
          <p:cNvPr id="12" name="TextBox 11"/>
          <p:cNvSpPr txBox="1"/>
          <p:nvPr/>
        </p:nvSpPr>
        <p:spPr>
          <a:xfrm>
            <a:off x="1005840" y="4389119"/>
            <a:ext cx="2904744" cy="1463040"/>
          </a:xfrm>
          <a:prstGeom prst="rect">
            <a:avLst/>
          </a:prstGeom>
          <a:noFill/>
        </p:spPr>
        <p:txBody>
          <a:bodyPr wrap="square" anchor="t">
            <a:spAutoFit/>
          </a:bodyPr>
          <a:lstStyle/>
          <a:p>
            <a:pPr algn="l">
              <a:spcAft>
                <a:spcPts val="400"/>
              </a:spcAft>
            </a:pPr>
            <a:r>
              <a:rPr sz="1200" b="0">
                <a:solidFill>
                  <a:srgbClr val="5B6372"/>
                </a:solidFill>
                <a:latin typeface="Arial"/>
              </a:rPr>
              <a:t>Continuous rotations about the X, Y and Z axes by a free parameter theta. These are the TRAINABLE gates in quantum machine learning.</a:t>
            </a:r>
          </a:p>
        </p:txBody>
      </p:sp>
      <p:sp>
        <p:nvSpPr>
          <p:cNvPr id="13" name="Rectangle 12"/>
          <p:cNvSpPr/>
          <p:nvPr/>
        </p:nvSpPr>
        <p:spPr>
          <a:xfrm>
            <a:off x="4413504" y="1874519"/>
            <a:ext cx="3361944"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13504" y="1874519"/>
            <a:ext cx="336194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2104" y="2148839"/>
            <a:ext cx="2904744" cy="548640"/>
          </a:xfrm>
          <a:prstGeom prst="rect">
            <a:avLst/>
          </a:prstGeom>
          <a:noFill/>
        </p:spPr>
        <p:txBody>
          <a:bodyPr wrap="square" anchor="t">
            <a:spAutoFit/>
          </a:bodyPr>
          <a:lstStyle/>
          <a:p>
            <a:pPr algn="l">
              <a:spcAft>
                <a:spcPts val="400"/>
              </a:spcAft>
            </a:pPr>
            <a:r>
              <a:rPr sz="1600" b="1">
                <a:solidFill>
                  <a:srgbClr val="10B981"/>
                </a:solidFill>
                <a:latin typeface="Arial"/>
              </a:rPr>
              <a:t>Phase gate P</a:t>
            </a:r>
          </a:p>
        </p:txBody>
      </p:sp>
      <p:sp>
        <p:nvSpPr>
          <p:cNvPr id="16" name="Rectangle 15"/>
          <p:cNvSpPr/>
          <p:nvPr/>
        </p:nvSpPr>
        <p:spPr>
          <a:xfrm>
            <a:off x="4642104" y="2834639"/>
            <a:ext cx="2904744"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33544" y="2834639"/>
            <a:ext cx="2721864" cy="1371600"/>
          </a:xfrm>
          <a:prstGeom prst="rect">
            <a:avLst/>
          </a:prstGeom>
          <a:noFill/>
        </p:spPr>
        <p:txBody>
          <a:bodyPr wrap="square" anchor="ctr">
            <a:spAutoFit/>
          </a:bodyPr>
          <a:lstStyle/>
          <a:p>
            <a:pPr algn="ctr">
              <a:spcAft>
                <a:spcPts val="400"/>
              </a:spcAft>
            </a:pPr>
            <a:r>
              <a:rPr sz="1400" b="1">
                <a:solidFill>
                  <a:srgbClr val="9CDCFE"/>
                </a:solidFill>
                <a:latin typeface="Arial"/>
              </a:rPr>
              <a:t>P(phi) = [[1, 0],
          [0, e^(i.phi)]]</a:t>
            </a:r>
          </a:p>
        </p:txBody>
      </p:sp>
      <p:sp>
        <p:nvSpPr>
          <p:cNvPr id="18" name="TextBox 17"/>
          <p:cNvSpPr txBox="1"/>
          <p:nvPr/>
        </p:nvSpPr>
        <p:spPr>
          <a:xfrm>
            <a:off x="4642104" y="4389119"/>
            <a:ext cx="2904744" cy="1463040"/>
          </a:xfrm>
          <a:prstGeom prst="rect">
            <a:avLst/>
          </a:prstGeom>
          <a:noFill/>
        </p:spPr>
        <p:txBody>
          <a:bodyPr wrap="square" anchor="t">
            <a:spAutoFit/>
          </a:bodyPr>
          <a:lstStyle/>
          <a:p>
            <a:pPr algn="l">
              <a:spcAft>
                <a:spcPts val="400"/>
              </a:spcAft>
            </a:pPr>
            <a:r>
              <a:rPr sz="1200" b="0">
                <a:solidFill>
                  <a:srgbClr val="5B6372"/>
                </a:solidFill>
                <a:latin typeface="Arial"/>
              </a:rPr>
              <a:t>Applies a relative phase to the |1&gt; component only. Leaves measurement probabilities unchanged in the Z basis.</a:t>
            </a:r>
          </a:p>
        </p:txBody>
      </p:sp>
      <p:sp>
        <p:nvSpPr>
          <p:cNvPr id="19" name="Rectangle 18"/>
          <p:cNvSpPr/>
          <p:nvPr/>
        </p:nvSpPr>
        <p:spPr>
          <a:xfrm>
            <a:off x="8049768" y="1874519"/>
            <a:ext cx="3361944" cy="4114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9768" y="1874519"/>
            <a:ext cx="336194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78368" y="2148839"/>
            <a:ext cx="2904744" cy="548640"/>
          </a:xfrm>
          <a:prstGeom prst="rect">
            <a:avLst/>
          </a:prstGeom>
          <a:noFill/>
        </p:spPr>
        <p:txBody>
          <a:bodyPr wrap="square" anchor="t">
            <a:spAutoFit/>
          </a:bodyPr>
          <a:lstStyle/>
          <a:p>
            <a:pPr algn="l">
              <a:spcAft>
                <a:spcPts val="400"/>
              </a:spcAft>
            </a:pPr>
            <a:r>
              <a:rPr sz="1600" b="1">
                <a:solidFill>
                  <a:srgbClr val="7C3AED"/>
                </a:solidFill>
                <a:latin typeface="Arial"/>
              </a:rPr>
              <a:t>S and T</a:t>
            </a:r>
          </a:p>
        </p:txBody>
      </p:sp>
      <p:sp>
        <p:nvSpPr>
          <p:cNvPr id="22" name="Rectangle 21"/>
          <p:cNvSpPr/>
          <p:nvPr/>
        </p:nvSpPr>
        <p:spPr>
          <a:xfrm>
            <a:off x="8278368" y="2834639"/>
            <a:ext cx="2904744" cy="13716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69808" y="2834639"/>
            <a:ext cx="2721864" cy="1371600"/>
          </a:xfrm>
          <a:prstGeom prst="rect">
            <a:avLst/>
          </a:prstGeom>
          <a:noFill/>
        </p:spPr>
        <p:txBody>
          <a:bodyPr wrap="square" anchor="ctr">
            <a:spAutoFit/>
          </a:bodyPr>
          <a:lstStyle/>
          <a:p>
            <a:pPr algn="ctr">
              <a:spcAft>
                <a:spcPts val="400"/>
              </a:spcAft>
            </a:pPr>
            <a:r>
              <a:rPr sz="1400" b="1">
                <a:solidFill>
                  <a:srgbClr val="9CDCFE"/>
                </a:solidFill>
                <a:latin typeface="Arial"/>
              </a:rPr>
              <a:t>S = P(pi/2)
T = P(pi/4)
S = T.T</a:t>
            </a:r>
          </a:p>
        </p:txBody>
      </p:sp>
      <p:sp>
        <p:nvSpPr>
          <p:cNvPr id="24" name="TextBox 23"/>
          <p:cNvSpPr txBox="1"/>
          <p:nvPr/>
        </p:nvSpPr>
        <p:spPr>
          <a:xfrm>
            <a:off x="8278368" y="4389119"/>
            <a:ext cx="2904744" cy="1463040"/>
          </a:xfrm>
          <a:prstGeom prst="rect">
            <a:avLst/>
          </a:prstGeom>
          <a:noFill/>
        </p:spPr>
        <p:txBody>
          <a:bodyPr wrap="square" anchor="t">
            <a:spAutoFit/>
          </a:bodyPr>
          <a:lstStyle/>
          <a:p>
            <a:pPr algn="l">
              <a:spcAft>
                <a:spcPts val="400"/>
              </a:spcAft>
            </a:pPr>
            <a:r>
              <a:rPr sz="1200" b="0">
                <a:solidFill>
                  <a:srgbClr val="5B6372"/>
                </a:solidFill>
                <a:latin typeface="Arial"/>
              </a:rPr>
              <a:t>The two standard fixed phase gates. T is the gate that lifts Clifford circuits to universal quantum computation — and the most expensive to make fault-tolerant.</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ENTANGLING GATE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Two-Qubit Gates — CNOT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not.png"/>
          <p:cNvPicPr>
            <a:picLocks noChangeAspect="1"/>
          </p:cNvPicPr>
          <p:nvPr/>
        </p:nvPicPr>
        <p:blipFill>
          <a:blip r:embed="rId2"/>
          <a:stretch>
            <a:fillRect/>
          </a:stretch>
        </p:blipFill>
        <p:spPr>
          <a:xfrm>
            <a:off x="777240" y="2555034"/>
            <a:ext cx="6309360" cy="2845209"/>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H on the control, then CNOT — the two-gate recipe for a Bell pair.</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The rule</a:t>
            </a:r>
          </a:p>
          <a:p>
            <a:pPr algn="l">
              <a:spcAft>
                <a:spcPts val="300"/>
              </a:spcAft>
            </a:pPr>
            <a:r>
              <a:rPr sz="1150" b="0">
                <a:solidFill>
                  <a:srgbClr val="161B26"/>
                </a:solidFill>
                <a:latin typeface="Arial"/>
              </a:rPr>
              <a:t>Flip the target if and only if the control is |1&gt;.</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Truth table</a:t>
            </a:r>
          </a:p>
          <a:p>
            <a:pPr algn="l">
              <a:spcAft>
                <a:spcPts val="300"/>
              </a:spcAft>
            </a:pPr>
            <a:r>
              <a:rPr sz="1150" b="0">
                <a:solidFill>
                  <a:srgbClr val="161B26"/>
                </a:solidFill>
                <a:latin typeface="Arial"/>
              </a:rPr>
              <a:t>|00&gt; to |00&gt;, |01&gt; to |01&gt;, |10&gt; to |11&gt;, |11&gt; to |10&gt;.</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It entangles</a:t>
            </a:r>
          </a:p>
          <a:p>
            <a:pPr algn="l">
              <a:spcAft>
                <a:spcPts val="300"/>
              </a:spcAft>
            </a:pPr>
            <a:r>
              <a:rPr sz="1150" b="0">
                <a:solidFill>
                  <a:srgbClr val="161B26"/>
                </a:solidFill>
                <a:latin typeface="Arial"/>
              </a:rPr>
              <a:t>CNOT applied to a superposed control produces a Bell state — no single-qubit gate can do that.</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Universality</a:t>
            </a:r>
          </a:p>
          <a:p>
            <a:pPr algn="l">
              <a:spcAft>
                <a:spcPts val="300"/>
              </a:spcAft>
            </a:pPr>
            <a:r>
              <a:rPr sz="1150" b="0">
                <a:solidFill>
                  <a:srgbClr val="161B26"/>
                </a:solidFill>
                <a:latin typeface="Arial"/>
              </a:rPr>
              <a:t>CNOT plus arbitrary single-qubit rotations is a universal gate set.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 QUICK REFERENCE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Multi-Qubit Gate Reference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2020549"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74519"/>
            <a:ext cx="1837669" cy="475488"/>
          </a:xfrm>
          <a:prstGeom prst="rect">
            <a:avLst/>
          </a:prstGeom>
          <a:noFill/>
        </p:spPr>
        <p:txBody>
          <a:bodyPr wrap="square" anchor="ctr">
            <a:spAutoFit/>
          </a:bodyPr>
          <a:lstStyle/>
          <a:p>
            <a:pPr algn="l">
              <a:spcAft>
                <a:spcPts val="400"/>
              </a:spcAft>
            </a:pPr>
            <a:r>
              <a:rPr sz="1250" b="1">
                <a:solidFill>
                  <a:srgbClr val="FFFFFF"/>
                </a:solidFill>
                <a:latin typeface="Arial"/>
              </a:rPr>
              <a:t>Gate</a:t>
            </a:r>
          </a:p>
        </p:txBody>
      </p:sp>
      <p:sp>
        <p:nvSpPr>
          <p:cNvPr id="9" name="Rectangle 8"/>
          <p:cNvSpPr/>
          <p:nvPr/>
        </p:nvSpPr>
        <p:spPr>
          <a:xfrm>
            <a:off x="2797789" y="1874519"/>
            <a:ext cx="1063447"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5805" y="1874519"/>
            <a:ext cx="880567" cy="475488"/>
          </a:xfrm>
          <a:prstGeom prst="rect">
            <a:avLst/>
          </a:prstGeom>
          <a:noFill/>
        </p:spPr>
        <p:txBody>
          <a:bodyPr wrap="square" anchor="ctr">
            <a:spAutoFit/>
          </a:bodyPr>
          <a:lstStyle/>
          <a:p>
            <a:pPr algn="l">
              <a:spcAft>
                <a:spcPts val="400"/>
              </a:spcAft>
            </a:pPr>
            <a:r>
              <a:rPr sz="1250" b="1">
                <a:solidFill>
                  <a:srgbClr val="FFFFFF"/>
                </a:solidFill>
                <a:latin typeface="Arial"/>
              </a:rPr>
              <a:t>Qubits</a:t>
            </a:r>
          </a:p>
        </p:txBody>
      </p:sp>
      <p:sp>
        <p:nvSpPr>
          <p:cNvPr id="11" name="Rectangle 10"/>
          <p:cNvSpPr/>
          <p:nvPr/>
        </p:nvSpPr>
        <p:spPr>
          <a:xfrm>
            <a:off x="3861236" y="1874519"/>
            <a:ext cx="4253788"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89252" y="1874519"/>
            <a:ext cx="4070908" cy="475488"/>
          </a:xfrm>
          <a:prstGeom prst="rect">
            <a:avLst/>
          </a:prstGeom>
          <a:noFill/>
        </p:spPr>
        <p:txBody>
          <a:bodyPr wrap="square" anchor="ctr">
            <a:spAutoFit/>
          </a:bodyPr>
          <a:lstStyle/>
          <a:p>
            <a:pPr algn="l">
              <a:spcAft>
                <a:spcPts val="400"/>
              </a:spcAft>
            </a:pPr>
            <a:r>
              <a:rPr sz="1250" b="1">
                <a:solidFill>
                  <a:srgbClr val="FFFFFF"/>
                </a:solidFill>
                <a:latin typeface="Arial"/>
              </a:rPr>
              <a:t>Action</a:t>
            </a:r>
          </a:p>
        </p:txBody>
      </p:sp>
      <p:sp>
        <p:nvSpPr>
          <p:cNvPr id="13" name="Rectangle 12"/>
          <p:cNvSpPr/>
          <p:nvPr/>
        </p:nvSpPr>
        <p:spPr>
          <a:xfrm>
            <a:off x="8115025" y="1874519"/>
            <a:ext cx="3296686"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3041" y="1874519"/>
            <a:ext cx="3113806" cy="475488"/>
          </a:xfrm>
          <a:prstGeom prst="rect">
            <a:avLst/>
          </a:prstGeom>
          <a:noFill/>
        </p:spPr>
        <p:txBody>
          <a:bodyPr wrap="square" anchor="ctr">
            <a:spAutoFit/>
          </a:bodyPr>
          <a:lstStyle/>
          <a:p>
            <a:pPr algn="l">
              <a:spcAft>
                <a:spcPts val="400"/>
              </a:spcAft>
            </a:pPr>
            <a:r>
              <a:rPr sz="1250" b="1">
                <a:solidFill>
                  <a:srgbClr val="FFFFFF"/>
                </a:solidFill>
                <a:latin typeface="Arial"/>
              </a:rPr>
              <a:t>Key use</a:t>
            </a:r>
          </a:p>
        </p:txBody>
      </p:sp>
      <p:sp>
        <p:nvSpPr>
          <p:cNvPr id="15" name="Rectangle 14"/>
          <p:cNvSpPr/>
          <p:nvPr/>
        </p:nvSpPr>
        <p:spPr>
          <a:xfrm>
            <a:off x="777240" y="2350007"/>
            <a:ext cx="202054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350007"/>
            <a:ext cx="1837669" cy="475488"/>
          </a:xfrm>
          <a:prstGeom prst="rect">
            <a:avLst/>
          </a:prstGeom>
          <a:noFill/>
        </p:spPr>
        <p:txBody>
          <a:bodyPr wrap="square" anchor="ctr">
            <a:spAutoFit/>
          </a:bodyPr>
          <a:lstStyle/>
          <a:p>
            <a:pPr algn="l">
              <a:spcAft>
                <a:spcPts val="400"/>
              </a:spcAft>
            </a:pPr>
            <a:r>
              <a:rPr sz="1150" b="1">
                <a:solidFill>
                  <a:srgbClr val="161B26"/>
                </a:solidFill>
                <a:latin typeface="Arial"/>
              </a:rPr>
              <a:t>CNOT (CX)</a:t>
            </a:r>
          </a:p>
        </p:txBody>
      </p:sp>
      <p:sp>
        <p:nvSpPr>
          <p:cNvPr id="17" name="Rectangle 16"/>
          <p:cNvSpPr/>
          <p:nvPr/>
        </p:nvSpPr>
        <p:spPr>
          <a:xfrm>
            <a:off x="2797789" y="2350007"/>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25805" y="2350007"/>
            <a:ext cx="880567" cy="475488"/>
          </a:xfrm>
          <a:prstGeom prst="rect">
            <a:avLst/>
          </a:prstGeom>
          <a:noFill/>
        </p:spPr>
        <p:txBody>
          <a:bodyPr wrap="square" anchor="ctr">
            <a:spAutoFit/>
          </a:bodyPr>
          <a:lstStyle/>
          <a:p>
            <a:pPr algn="l">
              <a:spcAft>
                <a:spcPts val="400"/>
              </a:spcAft>
            </a:pPr>
            <a:r>
              <a:rPr sz="1150" b="0">
                <a:solidFill>
                  <a:srgbClr val="161B26"/>
                </a:solidFill>
                <a:latin typeface="Arial"/>
              </a:rPr>
              <a:t>2</a:t>
            </a:r>
          </a:p>
        </p:txBody>
      </p:sp>
      <p:sp>
        <p:nvSpPr>
          <p:cNvPr id="19" name="Rectangle 18"/>
          <p:cNvSpPr/>
          <p:nvPr/>
        </p:nvSpPr>
        <p:spPr>
          <a:xfrm>
            <a:off x="3861236" y="2350007"/>
            <a:ext cx="425378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89252" y="2350007"/>
            <a:ext cx="4070908" cy="475488"/>
          </a:xfrm>
          <a:prstGeom prst="rect">
            <a:avLst/>
          </a:prstGeom>
          <a:noFill/>
        </p:spPr>
        <p:txBody>
          <a:bodyPr wrap="square" anchor="ctr">
            <a:spAutoFit/>
          </a:bodyPr>
          <a:lstStyle/>
          <a:p>
            <a:pPr algn="l">
              <a:spcAft>
                <a:spcPts val="400"/>
              </a:spcAft>
            </a:pPr>
            <a:r>
              <a:rPr sz="1150" b="0">
                <a:solidFill>
                  <a:srgbClr val="161B26"/>
                </a:solidFill>
                <a:latin typeface="Arial"/>
              </a:rPr>
              <a:t>Flips the target when the control is |1&gt;</a:t>
            </a:r>
          </a:p>
        </p:txBody>
      </p:sp>
      <p:sp>
        <p:nvSpPr>
          <p:cNvPr id="21" name="Rectangle 20"/>
          <p:cNvSpPr/>
          <p:nvPr/>
        </p:nvSpPr>
        <p:spPr>
          <a:xfrm>
            <a:off x="8115025" y="2350007"/>
            <a:ext cx="3296686"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43041" y="2350007"/>
            <a:ext cx="3113806" cy="475488"/>
          </a:xfrm>
          <a:prstGeom prst="rect">
            <a:avLst/>
          </a:prstGeom>
          <a:noFill/>
        </p:spPr>
        <p:txBody>
          <a:bodyPr wrap="square" anchor="ctr">
            <a:spAutoFit/>
          </a:bodyPr>
          <a:lstStyle/>
          <a:p>
            <a:pPr algn="l">
              <a:spcAft>
                <a:spcPts val="400"/>
              </a:spcAft>
            </a:pPr>
            <a:r>
              <a:rPr sz="1150" b="0">
                <a:solidFill>
                  <a:srgbClr val="161B26"/>
                </a:solidFill>
                <a:latin typeface="Arial"/>
              </a:rPr>
              <a:t>Entangling; Bell states; oracles</a:t>
            </a:r>
          </a:p>
        </p:txBody>
      </p:sp>
      <p:sp>
        <p:nvSpPr>
          <p:cNvPr id="23" name="Rectangle 22"/>
          <p:cNvSpPr/>
          <p:nvPr/>
        </p:nvSpPr>
        <p:spPr>
          <a:xfrm>
            <a:off x="777240" y="2825495"/>
            <a:ext cx="202054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25495"/>
            <a:ext cx="1837669" cy="475488"/>
          </a:xfrm>
          <a:prstGeom prst="rect">
            <a:avLst/>
          </a:prstGeom>
          <a:noFill/>
        </p:spPr>
        <p:txBody>
          <a:bodyPr wrap="square" anchor="ctr">
            <a:spAutoFit/>
          </a:bodyPr>
          <a:lstStyle/>
          <a:p>
            <a:pPr algn="l">
              <a:spcAft>
                <a:spcPts val="400"/>
              </a:spcAft>
            </a:pPr>
            <a:r>
              <a:rPr sz="1150" b="1">
                <a:solidFill>
                  <a:srgbClr val="161B26"/>
                </a:solidFill>
                <a:latin typeface="Arial"/>
              </a:rPr>
              <a:t>CZ</a:t>
            </a:r>
          </a:p>
        </p:txBody>
      </p:sp>
      <p:sp>
        <p:nvSpPr>
          <p:cNvPr id="25" name="Rectangle 24"/>
          <p:cNvSpPr/>
          <p:nvPr/>
        </p:nvSpPr>
        <p:spPr>
          <a:xfrm>
            <a:off x="2797789" y="2825495"/>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925805" y="2825495"/>
            <a:ext cx="880567" cy="475488"/>
          </a:xfrm>
          <a:prstGeom prst="rect">
            <a:avLst/>
          </a:prstGeom>
          <a:noFill/>
        </p:spPr>
        <p:txBody>
          <a:bodyPr wrap="square" anchor="ctr">
            <a:spAutoFit/>
          </a:bodyPr>
          <a:lstStyle/>
          <a:p>
            <a:pPr algn="l">
              <a:spcAft>
                <a:spcPts val="400"/>
              </a:spcAft>
            </a:pPr>
            <a:r>
              <a:rPr sz="1150" b="0">
                <a:solidFill>
                  <a:srgbClr val="161B26"/>
                </a:solidFill>
                <a:latin typeface="Arial"/>
              </a:rPr>
              <a:t>2</a:t>
            </a:r>
          </a:p>
        </p:txBody>
      </p:sp>
      <p:sp>
        <p:nvSpPr>
          <p:cNvPr id="27" name="Rectangle 26"/>
          <p:cNvSpPr/>
          <p:nvPr/>
        </p:nvSpPr>
        <p:spPr>
          <a:xfrm>
            <a:off x="3861236" y="2825495"/>
            <a:ext cx="4253788"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89252" y="2825495"/>
            <a:ext cx="4070908" cy="475488"/>
          </a:xfrm>
          <a:prstGeom prst="rect">
            <a:avLst/>
          </a:prstGeom>
          <a:noFill/>
        </p:spPr>
        <p:txBody>
          <a:bodyPr wrap="square" anchor="ctr">
            <a:spAutoFit/>
          </a:bodyPr>
          <a:lstStyle/>
          <a:p>
            <a:pPr algn="l">
              <a:spcAft>
                <a:spcPts val="400"/>
              </a:spcAft>
            </a:pPr>
            <a:r>
              <a:rPr sz="1150" b="0">
                <a:solidFill>
                  <a:srgbClr val="161B26"/>
                </a:solidFill>
                <a:latin typeface="Arial"/>
              </a:rPr>
              <a:t>Applies a -1 phase to |11&gt; only</a:t>
            </a:r>
          </a:p>
        </p:txBody>
      </p:sp>
      <p:sp>
        <p:nvSpPr>
          <p:cNvPr id="29" name="Rectangle 28"/>
          <p:cNvSpPr/>
          <p:nvPr/>
        </p:nvSpPr>
        <p:spPr>
          <a:xfrm>
            <a:off x="8115025" y="2825495"/>
            <a:ext cx="329668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43041" y="2825495"/>
            <a:ext cx="3113806" cy="475488"/>
          </a:xfrm>
          <a:prstGeom prst="rect">
            <a:avLst/>
          </a:prstGeom>
          <a:noFill/>
        </p:spPr>
        <p:txBody>
          <a:bodyPr wrap="square" anchor="ctr">
            <a:spAutoFit/>
          </a:bodyPr>
          <a:lstStyle/>
          <a:p>
            <a:pPr algn="l">
              <a:spcAft>
                <a:spcPts val="400"/>
              </a:spcAft>
            </a:pPr>
            <a:r>
              <a:rPr sz="1150" b="0">
                <a:solidFill>
                  <a:srgbClr val="161B26"/>
                </a:solidFill>
                <a:latin typeface="Arial"/>
              </a:rPr>
              <a:t>Grover oracle; phase kickback</a:t>
            </a:r>
          </a:p>
        </p:txBody>
      </p:sp>
      <p:sp>
        <p:nvSpPr>
          <p:cNvPr id="31" name="Rectangle 30"/>
          <p:cNvSpPr/>
          <p:nvPr/>
        </p:nvSpPr>
        <p:spPr>
          <a:xfrm>
            <a:off x="777240" y="3300983"/>
            <a:ext cx="202054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300983"/>
            <a:ext cx="1837669" cy="475488"/>
          </a:xfrm>
          <a:prstGeom prst="rect">
            <a:avLst/>
          </a:prstGeom>
          <a:noFill/>
        </p:spPr>
        <p:txBody>
          <a:bodyPr wrap="square" anchor="ctr">
            <a:spAutoFit/>
          </a:bodyPr>
          <a:lstStyle/>
          <a:p>
            <a:pPr algn="l">
              <a:spcAft>
                <a:spcPts val="400"/>
              </a:spcAft>
            </a:pPr>
            <a:r>
              <a:rPr sz="1150" b="1">
                <a:solidFill>
                  <a:srgbClr val="161B26"/>
                </a:solidFill>
                <a:latin typeface="Arial"/>
              </a:rPr>
              <a:t>Controlled-P</a:t>
            </a:r>
          </a:p>
        </p:txBody>
      </p:sp>
      <p:sp>
        <p:nvSpPr>
          <p:cNvPr id="33" name="Rectangle 32"/>
          <p:cNvSpPr/>
          <p:nvPr/>
        </p:nvSpPr>
        <p:spPr>
          <a:xfrm>
            <a:off x="2797789" y="3300983"/>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925805" y="3300983"/>
            <a:ext cx="880567" cy="475488"/>
          </a:xfrm>
          <a:prstGeom prst="rect">
            <a:avLst/>
          </a:prstGeom>
          <a:noFill/>
        </p:spPr>
        <p:txBody>
          <a:bodyPr wrap="square" anchor="ctr">
            <a:spAutoFit/>
          </a:bodyPr>
          <a:lstStyle/>
          <a:p>
            <a:pPr algn="l">
              <a:spcAft>
                <a:spcPts val="400"/>
              </a:spcAft>
            </a:pPr>
            <a:r>
              <a:rPr sz="1150" b="0">
                <a:solidFill>
                  <a:srgbClr val="161B26"/>
                </a:solidFill>
                <a:latin typeface="Arial"/>
              </a:rPr>
              <a:t>2</a:t>
            </a:r>
          </a:p>
        </p:txBody>
      </p:sp>
      <p:sp>
        <p:nvSpPr>
          <p:cNvPr id="35" name="Rectangle 34"/>
          <p:cNvSpPr/>
          <p:nvPr/>
        </p:nvSpPr>
        <p:spPr>
          <a:xfrm>
            <a:off x="3861236" y="3300983"/>
            <a:ext cx="425378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989252" y="3300983"/>
            <a:ext cx="4070908" cy="475488"/>
          </a:xfrm>
          <a:prstGeom prst="rect">
            <a:avLst/>
          </a:prstGeom>
          <a:noFill/>
        </p:spPr>
        <p:txBody>
          <a:bodyPr wrap="square" anchor="ctr">
            <a:spAutoFit/>
          </a:bodyPr>
          <a:lstStyle/>
          <a:p>
            <a:pPr algn="l">
              <a:spcAft>
                <a:spcPts val="400"/>
              </a:spcAft>
            </a:pPr>
            <a:r>
              <a:rPr sz="1150" b="0">
                <a:solidFill>
                  <a:srgbClr val="161B26"/>
                </a:solidFill>
                <a:latin typeface="Arial"/>
              </a:rPr>
              <a:t>Applies e^(i.phi) to |11&gt;</a:t>
            </a:r>
          </a:p>
        </p:txBody>
      </p:sp>
      <p:sp>
        <p:nvSpPr>
          <p:cNvPr id="37" name="Rectangle 36"/>
          <p:cNvSpPr/>
          <p:nvPr/>
        </p:nvSpPr>
        <p:spPr>
          <a:xfrm>
            <a:off x="8115025" y="3300983"/>
            <a:ext cx="3296686"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43041" y="3300983"/>
            <a:ext cx="3113806" cy="475488"/>
          </a:xfrm>
          <a:prstGeom prst="rect">
            <a:avLst/>
          </a:prstGeom>
          <a:noFill/>
        </p:spPr>
        <p:txBody>
          <a:bodyPr wrap="square" anchor="ctr">
            <a:spAutoFit/>
          </a:bodyPr>
          <a:lstStyle/>
          <a:p>
            <a:pPr algn="l">
              <a:spcAft>
                <a:spcPts val="400"/>
              </a:spcAft>
            </a:pPr>
            <a:r>
              <a:rPr sz="1150" b="0">
                <a:solidFill>
                  <a:srgbClr val="161B26"/>
                </a:solidFill>
                <a:latin typeface="Arial"/>
              </a:rPr>
              <a:t>Quantum Fourier Transform</a:t>
            </a:r>
          </a:p>
        </p:txBody>
      </p:sp>
      <p:sp>
        <p:nvSpPr>
          <p:cNvPr id="39" name="Rectangle 38"/>
          <p:cNvSpPr/>
          <p:nvPr/>
        </p:nvSpPr>
        <p:spPr>
          <a:xfrm>
            <a:off x="777240" y="3776471"/>
            <a:ext cx="202054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76471"/>
            <a:ext cx="1837669" cy="475488"/>
          </a:xfrm>
          <a:prstGeom prst="rect">
            <a:avLst/>
          </a:prstGeom>
          <a:noFill/>
        </p:spPr>
        <p:txBody>
          <a:bodyPr wrap="square" anchor="ctr">
            <a:spAutoFit/>
          </a:bodyPr>
          <a:lstStyle/>
          <a:p>
            <a:pPr algn="l">
              <a:spcAft>
                <a:spcPts val="400"/>
              </a:spcAft>
            </a:pPr>
            <a:r>
              <a:rPr sz="1150" b="1">
                <a:solidFill>
                  <a:srgbClr val="161B26"/>
                </a:solidFill>
                <a:latin typeface="Arial"/>
              </a:rPr>
              <a:t>SWAP</a:t>
            </a:r>
          </a:p>
        </p:txBody>
      </p:sp>
      <p:sp>
        <p:nvSpPr>
          <p:cNvPr id="41" name="Rectangle 40"/>
          <p:cNvSpPr/>
          <p:nvPr/>
        </p:nvSpPr>
        <p:spPr>
          <a:xfrm>
            <a:off x="2797789" y="3776471"/>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925805" y="3776471"/>
            <a:ext cx="880567" cy="475488"/>
          </a:xfrm>
          <a:prstGeom prst="rect">
            <a:avLst/>
          </a:prstGeom>
          <a:noFill/>
        </p:spPr>
        <p:txBody>
          <a:bodyPr wrap="square" anchor="ctr">
            <a:spAutoFit/>
          </a:bodyPr>
          <a:lstStyle/>
          <a:p>
            <a:pPr algn="l">
              <a:spcAft>
                <a:spcPts val="400"/>
              </a:spcAft>
            </a:pPr>
            <a:r>
              <a:rPr sz="1150" b="0">
                <a:solidFill>
                  <a:srgbClr val="161B26"/>
                </a:solidFill>
                <a:latin typeface="Arial"/>
              </a:rPr>
              <a:t>2</a:t>
            </a:r>
          </a:p>
        </p:txBody>
      </p:sp>
      <p:sp>
        <p:nvSpPr>
          <p:cNvPr id="43" name="Rectangle 42"/>
          <p:cNvSpPr/>
          <p:nvPr/>
        </p:nvSpPr>
        <p:spPr>
          <a:xfrm>
            <a:off x="3861236" y="3776471"/>
            <a:ext cx="4253788"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989252" y="3776471"/>
            <a:ext cx="4070908" cy="475488"/>
          </a:xfrm>
          <a:prstGeom prst="rect">
            <a:avLst/>
          </a:prstGeom>
          <a:noFill/>
        </p:spPr>
        <p:txBody>
          <a:bodyPr wrap="square" anchor="ctr">
            <a:spAutoFit/>
          </a:bodyPr>
          <a:lstStyle/>
          <a:p>
            <a:pPr algn="l">
              <a:spcAft>
                <a:spcPts val="400"/>
              </a:spcAft>
            </a:pPr>
            <a:r>
              <a:rPr sz="1150" b="0">
                <a:solidFill>
                  <a:srgbClr val="161B26"/>
                </a:solidFill>
                <a:latin typeface="Arial"/>
              </a:rPr>
              <a:t>Exchanges the states of two qubits</a:t>
            </a:r>
          </a:p>
        </p:txBody>
      </p:sp>
      <p:sp>
        <p:nvSpPr>
          <p:cNvPr id="45" name="Rectangle 44"/>
          <p:cNvSpPr/>
          <p:nvPr/>
        </p:nvSpPr>
        <p:spPr>
          <a:xfrm>
            <a:off x="8115025" y="3776471"/>
            <a:ext cx="329668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243041" y="3776471"/>
            <a:ext cx="3113806" cy="475488"/>
          </a:xfrm>
          <a:prstGeom prst="rect">
            <a:avLst/>
          </a:prstGeom>
          <a:noFill/>
        </p:spPr>
        <p:txBody>
          <a:bodyPr wrap="square" anchor="ctr">
            <a:spAutoFit/>
          </a:bodyPr>
          <a:lstStyle/>
          <a:p>
            <a:pPr algn="l">
              <a:spcAft>
                <a:spcPts val="400"/>
              </a:spcAft>
            </a:pPr>
            <a:r>
              <a:rPr sz="1150" b="0">
                <a:solidFill>
                  <a:srgbClr val="161B26"/>
                </a:solidFill>
                <a:latin typeface="Arial"/>
              </a:rPr>
              <a:t>Routing on real hardware</a:t>
            </a:r>
          </a:p>
        </p:txBody>
      </p:sp>
      <p:sp>
        <p:nvSpPr>
          <p:cNvPr id="47" name="Rectangle 46"/>
          <p:cNvSpPr/>
          <p:nvPr/>
        </p:nvSpPr>
        <p:spPr>
          <a:xfrm>
            <a:off x="777240" y="4251959"/>
            <a:ext cx="202054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251959"/>
            <a:ext cx="1837669" cy="475488"/>
          </a:xfrm>
          <a:prstGeom prst="rect">
            <a:avLst/>
          </a:prstGeom>
          <a:noFill/>
        </p:spPr>
        <p:txBody>
          <a:bodyPr wrap="square" anchor="ctr">
            <a:spAutoFit/>
          </a:bodyPr>
          <a:lstStyle/>
          <a:p>
            <a:pPr algn="l">
              <a:spcAft>
                <a:spcPts val="400"/>
              </a:spcAft>
            </a:pPr>
            <a:r>
              <a:rPr sz="1150" b="1">
                <a:solidFill>
                  <a:srgbClr val="161B26"/>
                </a:solidFill>
                <a:latin typeface="Arial"/>
              </a:rPr>
              <a:t>Toffoli (CCX)</a:t>
            </a:r>
          </a:p>
        </p:txBody>
      </p:sp>
      <p:sp>
        <p:nvSpPr>
          <p:cNvPr id="49" name="Rectangle 48"/>
          <p:cNvSpPr/>
          <p:nvPr/>
        </p:nvSpPr>
        <p:spPr>
          <a:xfrm>
            <a:off x="2797789" y="4251959"/>
            <a:ext cx="1063447"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25805" y="4251959"/>
            <a:ext cx="880567" cy="475488"/>
          </a:xfrm>
          <a:prstGeom prst="rect">
            <a:avLst/>
          </a:prstGeom>
          <a:noFill/>
        </p:spPr>
        <p:txBody>
          <a:bodyPr wrap="square" anchor="ctr">
            <a:spAutoFit/>
          </a:bodyPr>
          <a:lstStyle/>
          <a:p>
            <a:pPr algn="l">
              <a:spcAft>
                <a:spcPts val="400"/>
              </a:spcAft>
            </a:pPr>
            <a:r>
              <a:rPr sz="1150" b="0">
                <a:solidFill>
                  <a:srgbClr val="161B26"/>
                </a:solidFill>
                <a:latin typeface="Arial"/>
              </a:rPr>
              <a:t>3</a:t>
            </a:r>
          </a:p>
        </p:txBody>
      </p:sp>
      <p:sp>
        <p:nvSpPr>
          <p:cNvPr id="51" name="Rectangle 50"/>
          <p:cNvSpPr/>
          <p:nvPr/>
        </p:nvSpPr>
        <p:spPr>
          <a:xfrm>
            <a:off x="3861236" y="4251959"/>
            <a:ext cx="4253788"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989252" y="4251959"/>
            <a:ext cx="4070908" cy="475488"/>
          </a:xfrm>
          <a:prstGeom prst="rect">
            <a:avLst/>
          </a:prstGeom>
          <a:noFill/>
        </p:spPr>
        <p:txBody>
          <a:bodyPr wrap="square" anchor="ctr">
            <a:spAutoFit/>
          </a:bodyPr>
          <a:lstStyle/>
          <a:p>
            <a:pPr algn="l">
              <a:spcAft>
                <a:spcPts val="400"/>
              </a:spcAft>
            </a:pPr>
            <a:r>
              <a:rPr sz="1150" b="0">
                <a:solidFill>
                  <a:srgbClr val="161B26"/>
                </a:solidFill>
                <a:latin typeface="Arial"/>
              </a:rPr>
              <a:t>Flips the target if BOTH controls are |1&gt;</a:t>
            </a:r>
          </a:p>
        </p:txBody>
      </p:sp>
      <p:sp>
        <p:nvSpPr>
          <p:cNvPr id="53" name="Rectangle 52"/>
          <p:cNvSpPr/>
          <p:nvPr/>
        </p:nvSpPr>
        <p:spPr>
          <a:xfrm>
            <a:off x="8115025" y="4251959"/>
            <a:ext cx="3296686"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243041" y="4251959"/>
            <a:ext cx="3113806" cy="475488"/>
          </a:xfrm>
          <a:prstGeom prst="rect">
            <a:avLst/>
          </a:prstGeom>
          <a:noFill/>
        </p:spPr>
        <p:txBody>
          <a:bodyPr wrap="square" anchor="ctr">
            <a:spAutoFit/>
          </a:bodyPr>
          <a:lstStyle/>
          <a:p>
            <a:pPr algn="l">
              <a:spcAft>
                <a:spcPts val="400"/>
              </a:spcAft>
            </a:pPr>
            <a:r>
              <a:rPr sz="1150" b="0">
                <a:solidFill>
                  <a:srgbClr val="161B26"/>
                </a:solidFill>
                <a:latin typeface="Arial"/>
              </a:rPr>
              <a:t>Reversible classical logic; arithmetic</a:t>
            </a:r>
          </a:p>
        </p:txBody>
      </p:sp>
      <p:sp>
        <p:nvSpPr>
          <p:cNvPr id="55" name="Rectangle 54"/>
          <p:cNvSpPr/>
          <p:nvPr/>
        </p:nvSpPr>
        <p:spPr>
          <a:xfrm>
            <a:off x="777240" y="4727447"/>
            <a:ext cx="202054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4727447"/>
            <a:ext cx="1837669" cy="475488"/>
          </a:xfrm>
          <a:prstGeom prst="rect">
            <a:avLst/>
          </a:prstGeom>
          <a:noFill/>
        </p:spPr>
        <p:txBody>
          <a:bodyPr wrap="square" anchor="ctr">
            <a:spAutoFit/>
          </a:bodyPr>
          <a:lstStyle/>
          <a:p>
            <a:pPr algn="l">
              <a:spcAft>
                <a:spcPts val="400"/>
              </a:spcAft>
            </a:pPr>
            <a:r>
              <a:rPr sz="1150" b="1">
                <a:solidFill>
                  <a:srgbClr val="161B26"/>
                </a:solidFill>
                <a:latin typeface="Arial"/>
              </a:rPr>
              <a:t>CCZ</a:t>
            </a:r>
          </a:p>
        </p:txBody>
      </p:sp>
      <p:sp>
        <p:nvSpPr>
          <p:cNvPr id="57" name="Rectangle 56"/>
          <p:cNvSpPr/>
          <p:nvPr/>
        </p:nvSpPr>
        <p:spPr>
          <a:xfrm>
            <a:off x="2797789" y="4727447"/>
            <a:ext cx="1063447"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925805" y="4727447"/>
            <a:ext cx="880567" cy="475488"/>
          </a:xfrm>
          <a:prstGeom prst="rect">
            <a:avLst/>
          </a:prstGeom>
          <a:noFill/>
        </p:spPr>
        <p:txBody>
          <a:bodyPr wrap="square" anchor="ctr">
            <a:spAutoFit/>
          </a:bodyPr>
          <a:lstStyle/>
          <a:p>
            <a:pPr algn="l">
              <a:spcAft>
                <a:spcPts val="400"/>
              </a:spcAft>
            </a:pPr>
            <a:r>
              <a:rPr sz="1150" b="0">
                <a:solidFill>
                  <a:srgbClr val="161B26"/>
                </a:solidFill>
                <a:latin typeface="Arial"/>
              </a:rPr>
              <a:t>3</a:t>
            </a:r>
          </a:p>
        </p:txBody>
      </p:sp>
      <p:sp>
        <p:nvSpPr>
          <p:cNvPr id="59" name="Rectangle 58"/>
          <p:cNvSpPr/>
          <p:nvPr/>
        </p:nvSpPr>
        <p:spPr>
          <a:xfrm>
            <a:off x="3861236" y="4727447"/>
            <a:ext cx="4253788"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989252" y="4727447"/>
            <a:ext cx="4070908" cy="475488"/>
          </a:xfrm>
          <a:prstGeom prst="rect">
            <a:avLst/>
          </a:prstGeom>
          <a:noFill/>
        </p:spPr>
        <p:txBody>
          <a:bodyPr wrap="square" anchor="ctr">
            <a:spAutoFit/>
          </a:bodyPr>
          <a:lstStyle/>
          <a:p>
            <a:pPr algn="l">
              <a:spcAft>
                <a:spcPts val="400"/>
              </a:spcAft>
            </a:pPr>
            <a:r>
              <a:rPr sz="1150" b="0">
                <a:solidFill>
                  <a:srgbClr val="161B26"/>
                </a:solidFill>
                <a:latin typeface="Arial"/>
              </a:rPr>
              <a:t>Phase-flips |111&gt;</a:t>
            </a:r>
          </a:p>
        </p:txBody>
      </p:sp>
      <p:sp>
        <p:nvSpPr>
          <p:cNvPr id="61" name="Rectangle 60"/>
          <p:cNvSpPr/>
          <p:nvPr/>
        </p:nvSpPr>
        <p:spPr>
          <a:xfrm>
            <a:off x="8115025" y="4727447"/>
            <a:ext cx="3296686"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243041" y="4727447"/>
            <a:ext cx="3113806" cy="475488"/>
          </a:xfrm>
          <a:prstGeom prst="rect">
            <a:avLst/>
          </a:prstGeom>
          <a:noFill/>
        </p:spPr>
        <p:txBody>
          <a:bodyPr wrap="square" anchor="ctr">
            <a:spAutoFit/>
          </a:bodyPr>
          <a:lstStyle/>
          <a:p>
            <a:pPr algn="l">
              <a:spcAft>
                <a:spcPts val="400"/>
              </a:spcAft>
            </a:pPr>
            <a:r>
              <a:rPr sz="1150" b="0">
                <a:solidFill>
                  <a:srgbClr val="161B26"/>
                </a:solidFill>
                <a:latin typeface="Arial"/>
              </a:rPr>
              <a:t>3-qubit Grover oracle</a:t>
            </a:r>
          </a:p>
        </p:txBody>
      </p:sp>
      <p:sp>
        <p:nvSpPr>
          <p:cNvPr id="63" name="TextBox 6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64" name="TextBox 6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5" name="TextBox 6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REMEMBER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Key Properties — CZ, SWAP and Toffoli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CZ is symmetric</a:t>
            </a:r>
          </a:p>
          <a:p>
            <a:pPr algn="l">
              <a:spcAft>
                <a:spcPts val="300"/>
              </a:spcAft>
            </a:pPr>
            <a:r>
              <a:rPr sz="1100" b="0">
                <a:solidFill>
                  <a:srgbClr val="5B6372"/>
                </a:solidFill>
                <a:latin typeface="Arial"/>
              </a:rPr>
              <a:t>Control and target are interchangeable — CZ(a,b) = CZ(b,a). Unusual for a controlled gate.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CZ from CNOT</a:t>
            </a:r>
          </a:p>
          <a:p>
            <a:pPr algn="l">
              <a:spcAft>
                <a:spcPts val="300"/>
              </a:spcAft>
            </a:pPr>
            <a:r>
              <a:rPr sz="1100" b="0">
                <a:solidFill>
                  <a:srgbClr val="5B6372"/>
                </a:solidFill>
                <a:latin typeface="Arial"/>
              </a:rPr>
              <a:t>H on the target, then CNOT, then H on the target, gives exactly CZ. And vice versa.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SWAP = 3 CNOTs</a:t>
            </a:r>
          </a:p>
          <a:p>
            <a:pPr algn="l">
              <a:spcAft>
                <a:spcPts val="300"/>
              </a:spcAft>
            </a:pPr>
            <a:r>
              <a:rPr sz="1100" b="0">
                <a:solidFill>
                  <a:srgbClr val="5B6372"/>
                </a:solidFill>
                <a:latin typeface="Arial"/>
              </a:rPr>
              <a:t>SWAP is built from three alternating CNOTs — which is why it is expensive on real hardware.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Toffoli is universal</a:t>
            </a:r>
          </a:p>
          <a:p>
            <a:pPr algn="l">
              <a:spcAft>
                <a:spcPts val="300"/>
              </a:spcAft>
            </a:pPr>
            <a:r>
              <a:rPr sz="1100" b="0">
                <a:solidFill>
                  <a:srgbClr val="5B6372"/>
                </a:solidFill>
                <a:latin typeface="Arial"/>
              </a:rPr>
              <a:t>CCNOT alone is universal for REVERSIBLE CLASSICAL computation — it can build AND, NOT and FANOUT.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Toffoli is expensive</a:t>
            </a:r>
          </a:p>
          <a:p>
            <a:pPr algn="l">
              <a:spcAft>
                <a:spcPts val="300"/>
              </a:spcAft>
            </a:pPr>
            <a:r>
              <a:rPr sz="1100" b="0">
                <a:solidFill>
                  <a:srgbClr val="5B6372"/>
                </a:solidFill>
                <a:latin typeface="Arial"/>
              </a:rPr>
              <a:t>Decomposing one Toffoli needs about six CNOTs plus T gates — a major cost in fault-tolerant design.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All are self-inverse</a:t>
            </a:r>
          </a:p>
          <a:p>
            <a:pPr algn="l">
              <a:spcAft>
                <a:spcPts val="300"/>
              </a:spcAft>
            </a:pPr>
            <a:r>
              <a:rPr sz="1100" b="0">
                <a:solidFill>
                  <a:srgbClr val="5B6372"/>
                </a:solidFill>
                <a:latin typeface="Arial"/>
              </a:rPr>
              <a:t>Applying CZ, SWAP or Toffoli twice returns the original state.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BELL STATES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Bell States — Maximal Entanglement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ell-states.png"/>
          <p:cNvPicPr>
            <a:picLocks noChangeAspect="1"/>
          </p:cNvPicPr>
          <p:nvPr/>
        </p:nvPicPr>
        <p:blipFill>
          <a:blip r:embed="rId2"/>
          <a:stretch>
            <a:fillRect/>
          </a:stretch>
        </p:blipFill>
        <p:spPr>
          <a:xfrm>
            <a:off x="777240" y="2908919"/>
            <a:ext cx="6309360" cy="2137439"/>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Each Bell state is maximally entangled and mutually orthogonal.</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Phi+</a:t>
            </a:r>
          </a:p>
          <a:p>
            <a:pPr algn="l">
              <a:spcAft>
                <a:spcPts val="300"/>
              </a:spcAft>
            </a:pPr>
            <a:r>
              <a:rPr sz="1150" b="0">
                <a:solidFill>
                  <a:srgbClr val="161B26"/>
                </a:solidFill>
                <a:latin typeface="Arial"/>
              </a:rPr>
              <a:t>(|00&gt; + |11&gt;)/sqrt(2) — H on q0, then CNOT.</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Phi-</a:t>
            </a:r>
          </a:p>
          <a:p>
            <a:pPr algn="l">
              <a:spcAft>
                <a:spcPts val="300"/>
              </a:spcAft>
            </a:pPr>
            <a:r>
              <a:rPr sz="1150" b="0">
                <a:solidFill>
                  <a:srgbClr val="161B26"/>
                </a:solidFill>
                <a:latin typeface="Arial"/>
              </a:rPr>
              <a:t>(|00&gt; - |11&gt;)/sqrt(2) — add Z after the CNOT.</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Psi+</a:t>
            </a:r>
          </a:p>
          <a:p>
            <a:pPr algn="l">
              <a:spcAft>
                <a:spcPts val="300"/>
              </a:spcAft>
            </a:pPr>
            <a:r>
              <a:rPr sz="1150" b="0">
                <a:solidFill>
                  <a:srgbClr val="161B26"/>
                </a:solidFill>
                <a:latin typeface="Arial"/>
              </a:rPr>
              <a:t>(|01&gt; + |10&gt;)/sqrt(2) — add X on q1 before the CNOT.</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Psi-</a:t>
            </a:r>
          </a:p>
          <a:p>
            <a:pPr algn="l">
              <a:spcAft>
                <a:spcPts val="300"/>
              </a:spcAft>
            </a:pPr>
            <a:r>
              <a:rPr sz="1150" b="0">
                <a:solidFill>
                  <a:srgbClr val="161B26"/>
                </a:solidFill>
                <a:latin typeface="Arial"/>
              </a:rPr>
              <a:t>(|01&gt; - |10&gt;)/sqrt(2) — add both X and Z. The four form an orthonormal basis.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BEYOND TWO QUBITS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GHZ States — Entangling n Qubits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state</a:t>
            </a:r>
          </a:p>
          <a:p>
            <a:pPr algn="l">
              <a:spcAft>
                <a:spcPts val="300"/>
              </a:spcAft>
            </a:pPr>
            <a:r>
              <a:rPr sz="1100" b="0">
                <a:solidFill>
                  <a:srgbClr val="5B6372"/>
                </a:solidFill>
                <a:latin typeface="Arial"/>
              </a:rPr>
              <a:t>(|000&gt; + |111&gt;)/sqrt(2) — all three qubits perfectly correlated.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recipe</a:t>
            </a:r>
          </a:p>
          <a:p>
            <a:pPr algn="l">
              <a:spcAft>
                <a:spcPts val="300"/>
              </a:spcAft>
            </a:pPr>
            <a:r>
              <a:rPr sz="1100" b="0">
                <a:solidFill>
                  <a:srgbClr val="5B6372"/>
                </a:solidFill>
                <a:latin typeface="Arial"/>
              </a:rPr>
              <a:t>One H on the first qubit, then a CNOT from it to every other qubit.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Generalises</a:t>
            </a:r>
          </a:p>
          <a:p>
            <a:pPr algn="l">
              <a:spcAft>
                <a:spcPts val="300"/>
              </a:spcAft>
            </a:pPr>
            <a:r>
              <a:rPr sz="1100" b="0">
                <a:solidFill>
                  <a:srgbClr val="5B6372"/>
                </a:solidFill>
                <a:latin typeface="Arial"/>
              </a:rPr>
              <a:t>For n qubits: (|0...0&gt; + |1...1&gt;)/sqrt(2), built with one H and n-1 CNOTs.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Fragile</a:t>
            </a:r>
          </a:p>
          <a:p>
            <a:pPr algn="l">
              <a:spcAft>
                <a:spcPts val="300"/>
              </a:spcAft>
            </a:pPr>
            <a:r>
              <a:rPr sz="1100" b="0">
                <a:solidFill>
                  <a:srgbClr val="5B6372"/>
                </a:solidFill>
                <a:latin typeface="Arial"/>
              </a:rPr>
              <a:t>Measuring or losing ANY single qubit destroys the entanglement of the whole state.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Uses</a:t>
            </a:r>
          </a:p>
          <a:p>
            <a:pPr algn="l">
              <a:spcAft>
                <a:spcPts val="300"/>
              </a:spcAft>
            </a:pPr>
            <a:r>
              <a:rPr sz="1100" b="0">
                <a:solidFill>
                  <a:srgbClr val="5B6372"/>
                </a:solidFill>
                <a:latin typeface="Arial"/>
              </a:rPr>
              <a:t>Multi-party QKD, quantum secret sharing, and benchmarking a device's entangling quality.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Test of QM</a:t>
            </a:r>
          </a:p>
          <a:p>
            <a:pPr algn="l">
              <a:spcAft>
                <a:spcPts val="300"/>
              </a:spcAft>
            </a:pPr>
            <a:r>
              <a:rPr sz="1100" b="0">
                <a:solidFill>
                  <a:srgbClr val="5B6372"/>
                </a:solidFill>
                <a:latin typeface="Arial"/>
              </a:rPr>
              <a:t>GHZ gives a non-statistical contradiction with local realism — stronger than Bell's.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ENGINE OF QUANTUM ALGORITHMS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Phase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hase-kickback.png"/>
          <p:cNvPicPr>
            <a:picLocks noChangeAspect="1"/>
          </p:cNvPicPr>
          <p:nvPr/>
        </p:nvPicPr>
        <p:blipFill>
          <a:blip r:embed="rId2"/>
          <a:stretch>
            <a:fillRect/>
          </a:stretch>
        </p:blipFill>
        <p:spPr>
          <a:xfrm>
            <a:off x="777240" y="2230149"/>
            <a:ext cx="6309360" cy="3494980"/>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Phase kickback converts an oracle's answer into a measurable phase.</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The mechanism</a:t>
            </a:r>
          </a:p>
          <a:p>
            <a:pPr algn="l">
              <a:spcAft>
                <a:spcPts val="300"/>
              </a:spcAft>
            </a:pPr>
            <a:r>
              <a:rPr sz="1150" b="0">
                <a:solidFill>
                  <a:srgbClr val="161B26"/>
                </a:solidFill>
                <a:latin typeface="Arial"/>
              </a:rPr>
              <a:t>A phase applied to the TARGET of a controlled gate appears on the CONTROL instead.</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Why</a:t>
            </a:r>
          </a:p>
          <a:p>
            <a:pPr algn="l">
              <a:spcAft>
                <a:spcPts val="300"/>
              </a:spcAft>
            </a:pPr>
            <a:r>
              <a:rPr sz="1150" b="0">
                <a:solidFill>
                  <a:srgbClr val="161B26"/>
                </a:solidFill>
                <a:latin typeface="Arial"/>
              </a:rPr>
              <a:t>If the target is an eigenstate of the operation, the controlled gate can only contribute a global-to-relative phase on the control.</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The |-&gt; trick</a:t>
            </a:r>
          </a:p>
          <a:p>
            <a:pPr algn="l">
              <a:spcAft>
                <a:spcPts val="300"/>
              </a:spcAft>
            </a:pPr>
            <a:r>
              <a:rPr sz="1150" b="0">
                <a:solidFill>
                  <a:srgbClr val="161B26"/>
                </a:solidFill>
                <a:latin typeface="Arial"/>
              </a:rPr>
              <a:t>Put the ancilla in |-&gt; and a CNOT applies a -1 phase exactly when the control is |1&gt;.</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Where it is used</a:t>
            </a:r>
          </a:p>
          <a:p>
            <a:pPr algn="l">
              <a:spcAft>
                <a:spcPts val="300"/>
              </a:spcAft>
            </a:pPr>
            <a:r>
              <a:rPr sz="1150" b="0">
                <a:solidFill>
                  <a:srgbClr val="161B26"/>
                </a:solidFill>
                <a:latin typeface="Arial"/>
              </a:rPr>
              <a:t>Deutsch, Deutsch-Jozsa, Bernstein-Vazirani, Grover's oracle and Quantum Phase Estimation.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 ON IBM QUANTUM COMPOSER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Quantum States and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300" b="0">
                <a:solidFill>
                  <a:srgbClr val="161B26"/>
                </a:solidFill>
                <a:latin typeface="Arial"/>
              </a:rPr>
              <a:t>•  Single-Qubit Gates — Pauli X, Y, Z and Hadamard</a:t>
            </a:r>
          </a:p>
          <a:p>
            <a:pPr>
              <a:spcAft>
                <a:spcPts val="900"/>
              </a:spcAft>
            </a:pPr>
            <a:r>
              <a:rPr sz="1300" b="0">
                <a:solidFill>
                  <a:srgbClr val="161B26"/>
                </a:solidFill>
                <a:latin typeface="Arial"/>
              </a:rPr>
              <a:t>•  Rotation and Phase Gates — RX, RY, RZ, S and 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6–7</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300" b="0">
                <a:solidFill>
                  <a:srgbClr val="161B26"/>
                </a:solidFill>
                <a:latin typeface="Arial"/>
              </a:rPr>
              <a:t>•  Two-Qubit Gates — CNOT, CZ, SWAP and Toffoli</a:t>
            </a:r>
          </a:p>
          <a:p>
            <a:pPr>
              <a:spcAft>
                <a:spcPts val="900"/>
              </a:spcAft>
            </a:pPr>
            <a:r>
              <a:rPr sz="1300" b="0">
                <a:solidFill>
                  <a:srgbClr val="161B26"/>
                </a:solidFill>
                <a:latin typeface="Arial"/>
              </a:rPr>
              <a:t>•  Bell States, GHZ States and Phase Kickback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3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Single-Qubit Gates — Pauli X, Y, Z and Hadamard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Work through the single-qubit gate set on IBM Quantum Composer. Apply each Pauli gate and the Hadamard to |0&gt; and to |1&gt;, read the resulting statevector, and verify from the simulator that each Pauli gate is its own inverse.</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Open a 1-qubit circuit in IBM Quantum Composer and keep…</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Apply X to q[0] and confirm the state becomes |1&gt; — X is…</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Clear, apply Z to q[0], and confirm the state stays |0&gt;</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Build H then Z</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Apply Y to |0&gt; and read the statevector: you get i|1&gt;</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A gate reference table you fill in yourself: the output state and measurement probabilities for X, Y, Z and H on |0&gt; and |1&gt;.</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4</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Rotation and Phase Gates — RX, RY, RZ, S and 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Move beyond fixed gates to parameterised rotations. Sweep the angle of an RY gate on IBM Quantum Composer and watch the measurement probability change continuously — the basis of every variational quantum algorithm.</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Open a 1-qubit circuit with a Measure and place an RY…</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Set theta = pi/2 and run 1024 shots</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Set theta = pi and run again</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Set theta = pi/4 and predict the split BEFORE running…</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Replace RY with RX(pi) and confirm it also produces |1&gt; —…</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A probability-vs-angle table for RY(theta) at theta = 0, pi/4, pi/2, 3pi/4 and pi, plus the S and T phase gates demonstrated.</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5</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Two-Qubit Gates — CNOT, CZ, SWAP and Toffoli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Build the truth table of the multi-qubit gates by hand on IBM Quantum Composer. Prepare each computational basis input with X gates, apply the gate, and read off the output — the fastest way to make CNOT, CZ, SWAP and Toffoli concrete.</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Open a 2-qubit circuit</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Measure both qubits and run</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Repeat for input |00&gt; (no X gates)</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Replace the CNOT with a CZ gate on input |11&gt; (X on both…</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Make the CZ phase visible: build H on q[1], then CZ, then…</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Completed truth tables for CNOT, SWAP and Toffoli, plus a demonstration that CZ only applies a phase.</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6</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Bell States, GHZ States and Phase Kickback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Build all four Bell states and the 3-qubit GHZ state on IBM Quantum Composer, then demonstrate phase kickback — the mechanism that makes the Deutsch, Bernstein-Vazirani and phase-estimation algorithms work.</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Build the Phi+ Bell state with H on q[0] then CNOT(q[0]…</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an X on q[1] before the CNOT to build Psi+ = (|01&gt; +…</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a Z on q[0] after the CNOT to build Phi- = (|00&gt; -…</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Extend to three qubits: H on q[0], CNOT(q[0], q[1])…</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Run the GHZ circuit for 1024 shots and confirm only |000&gt;…</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The four Bell states, a GHZ state, and a phase-kickback circuit showing the phase moving onto the control qubit.</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7</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02 RECAP · END OF DAY 1</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States and Gates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Every gate is a unitary matrix, so every quantum operation is reversible.</a:t>
            </a:r>
          </a:p>
          <a:p>
            <a:pPr>
              <a:spcAft>
                <a:spcPts val="1000"/>
              </a:spcAft>
            </a:pPr>
            <a:r>
              <a:rPr sz="1700" b="0">
                <a:solidFill>
                  <a:srgbClr val="161B26"/>
                </a:solidFill>
                <a:latin typeface="Arial"/>
              </a:rPr>
              <a:t>•  X, Y and Z are the Pauli gates — self-inverse, anticommuting, with eigenvalues +1 and -1.</a:t>
            </a:r>
          </a:p>
          <a:p>
            <a:pPr>
              <a:spcAft>
                <a:spcPts val="1000"/>
              </a:spcAft>
            </a:pPr>
            <a:r>
              <a:rPr sz="1700" b="0">
                <a:solidFill>
                  <a:srgbClr val="161B26"/>
                </a:solidFill>
                <a:latin typeface="Arial"/>
              </a:rPr>
              <a:t>•  H creates superposition; RX/RY/RZ rotate by a free angle; S and T apply fixed phases.</a:t>
            </a:r>
          </a:p>
          <a:p>
            <a:pPr>
              <a:spcAft>
                <a:spcPts val="1000"/>
              </a:spcAft>
            </a:pPr>
            <a:r>
              <a:rPr sz="1700" b="0">
                <a:solidFill>
                  <a:srgbClr val="161B26"/>
                </a:solidFill>
                <a:latin typeface="Arial"/>
              </a:rPr>
              <a:t>•  CNOT entangles; CZ phase-flips |11&gt;; SWAP exchanges; Toffoli is reversible classical logic.</a:t>
            </a:r>
          </a:p>
          <a:p>
            <a:pPr>
              <a:spcAft>
                <a:spcPts val="1000"/>
              </a:spcAft>
            </a:pPr>
            <a:r>
              <a:rPr sz="1700" b="0">
                <a:solidFill>
                  <a:srgbClr val="161B26"/>
                </a:solidFill>
                <a:latin typeface="Arial"/>
              </a:rPr>
              <a:t>•  H then CNOT builds a Bell pair. Phase kickback is what makes the query algorithms work.</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Algorithms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Coding Quantum Algorithms  ·  Testing Quantum Algorithms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THE FOUNDATION OF QUANTUM SECURITY</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No-Cloning Theorem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o-cloning.png"/>
          <p:cNvPicPr>
            <a:picLocks noChangeAspect="1"/>
          </p:cNvPicPr>
          <p:nvPr/>
        </p:nvPicPr>
        <p:blipFill>
          <a:blip r:embed="rId2"/>
          <a:stretch>
            <a:fillRect/>
          </a:stretch>
        </p:blipFill>
        <p:spPr>
          <a:xfrm>
            <a:off x="777240" y="2263872"/>
            <a:ext cx="6309360" cy="3427533"/>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No-cloning is why QKD is secure and why teleportation must destroy the original.</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The statement</a:t>
            </a:r>
          </a:p>
          <a:p>
            <a:pPr algn="l">
              <a:spcAft>
                <a:spcPts val="300"/>
              </a:spcAft>
            </a:pPr>
            <a:r>
              <a:rPr sz="1150" b="0">
                <a:solidFill>
                  <a:srgbClr val="161B26"/>
                </a:solidFill>
                <a:latin typeface="Arial"/>
              </a:rPr>
              <a:t>It is impossible to build a machine that copies an arbitrary UNKNOWN quantum state.</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The proof</a:t>
            </a:r>
          </a:p>
          <a:p>
            <a:pPr algn="l">
              <a:spcAft>
                <a:spcPts val="300"/>
              </a:spcAft>
            </a:pPr>
            <a:r>
              <a:rPr sz="1150" b="0">
                <a:solidFill>
                  <a:srgbClr val="161B26"/>
                </a:solidFill>
                <a:latin typeface="Arial"/>
              </a:rPr>
              <a:t>Linearity of quantum mechanics forbids it — assume a cloner exists and you derive a contradiction.</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The exception</a:t>
            </a:r>
          </a:p>
          <a:p>
            <a:pPr algn="l">
              <a:spcAft>
                <a:spcPts val="300"/>
              </a:spcAft>
            </a:pPr>
            <a:r>
              <a:rPr sz="1150" b="0">
                <a:solidFill>
                  <a:srgbClr val="161B26"/>
                </a:solidFill>
                <a:latin typeface="Arial"/>
              </a:rPr>
              <a:t>Orthogonal states CAN be copied, because they can be perfectly distinguished first.</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The consequence</a:t>
            </a:r>
          </a:p>
          <a:p>
            <a:pPr algn="l">
              <a:spcAft>
                <a:spcPts val="300"/>
              </a:spcAft>
            </a:pPr>
            <a:r>
              <a:rPr sz="1150" b="0">
                <a:solidFill>
                  <a:srgbClr val="161B26"/>
                </a:solidFill>
                <a:latin typeface="Arial"/>
              </a:rPr>
              <a:t>Quantum information cannot be broadcast or backed up — and eavesdroppers cannot copy a key.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MOVING A QUBIT WITHOUT MOVING A QUBIT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 — The Protocol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Alice and Bob share an entangled Bell pair in advance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Alice holds the unknown qubit she wants to send</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Alice performs a Bell measurement on her two qubits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Alice sends the two classical bits to Bob</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Bob applies X and/or Z to recover the exact state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COMMON MISCONCEPTIONS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 — What It Is and Is Not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problem</a:t>
            </a:r>
          </a:p>
          <a:p>
            <a:pPr algn="l">
              <a:spcAft>
                <a:spcPts val="300"/>
              </a:spcAft>
            </a:pPr>
            <a:r>
              <a:rPr sz="1100" b="0">
                <a:solidFill>
                  <a:srgbClr val="5B6372"/>
                </a:solidFill>
                <a:latin typeface="Arial"/>
              </a:rPr>
              <a:t>Alice must send an unknown qubit to Bob but can transmit only classical information.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resources</a:t>
            </a:r>
          </a:p>
          <a:p>
            <a:pPr algn="l">
              <a:spcAft>
                <a:spcPts val="300"/>
              </a:spcAft>
            </a:pPr>
            <a:r>
              <a:rPr sz="1100" b="0">
                <a:solidFill>
                  <a:srgbClr val="5B6372"/>
                </a:solidFill>
                <a:latin typeface="Arial"/>
              </a:rPr>
              <a:t>One shared Bell pair plus exactly two classical bits per qubit teleported.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No faster than light</a:t>
            </a:r>
          </a:p>
          <a:p>
            <a:pPr algn="l">
              <a:spcAft>
                <a:spcPts val="300"/>
              </a:spcAft>
            </a:pPr>
            <a:r>
              <a:rPr sz="1100" b="0">
                <a:solidFill>
                  <a:srgbClr val="5B6372"/>
                </a:solidFill>
                <a:latin typeface="Arial"/>
              </a:rPr>
              <a:t>Bob's qubit is useless until Alice's two classical bits arrive — causality is safe.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original dies</a:t>
            </a:r>
          </a:p>
          <a:p>
            <a:pPr algn="l">
              <a:spcAft>
                <a:spcPts val="300"/>
              </a:spcAft>
            </a:pPr>
            <a:r>
              <a:rPr sz="1100" b="0">
                <a:solidFill>
                  <a:srgbClr val="5B6372"/>
                </a:solidFill>
                <a:latin typeface="Arial"/>
              </a:rPr>
              <a:t>Alice's measurement destroys her copy — exactly as no-cloning requires.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Not matter transport</a:t>
            </a:r>
          </a:p>
          <a:p>
            <a:pPr algn="l">
              <a:spcAft>
                <a:spcPts val="300"/>
              </a:spcAft>
            </a:pPr>
            <a:r>
              <a:rPr sz="1100" b="0">
                <a:solidFill>
                  <a:srgbClr val="5B6372"/>
                </a:solidFill>
                <a:latin typeface="Arial"/>
              </a:rPr>
              <a:t>Nothing physical travels; only the STATE is transferred onto Bob's existing qubit.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Why it matters</a:t>
            </a:r>
          </a:p>
          <a:p>
            <a:pPr algn="l">
              <a:spcAft>
                <a:spcPts val="300"/>
              </a:spcAft>
            </a:pPr>
            <a:r>
              <a:rPr sz="1100" b="0">
                <a:solidFill>
                  <a:srgbClr val="5B6372"/>
                </a:solidFill>
                <a:latin typeface="Arial"/>
              </a:rPr>
              <a:t>Teleportation underpins quantum repeaters, quantum networks and fault-tolerant gate design.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TWO CLASSICAL BITS FROM ONE QUBIT</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 — The Mirror Image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Alice and Bob share an entangled Bell pair in advance</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Alice picks her 2-bit message: 00, 01, 10 or 11</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Alice applies I, X, Z or ZX to HER qubit only</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Alice sends that single qubit to Bob</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Bob applies CNOT then H and reads both bits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TWO SIDES OF ONE COIN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Teleportation vs Superdense Coding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Qubit over classical channel</a:t>
            </a:r>
          </a:p>
        </p:txBody>
      </p:sp>
      <p:sp>
        <p:nvSpPr>
          <p:cNvPr id="12" name="TextBox 11"/>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Bits over quantum channel</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b="0">
                <a:solidFill>
                  <a:srgbClr val="161B26"/>
                </a:solidFill>
                <a:latin typeface="Arial"/>
              </a:rPr>
              <a:t>•  Quantum teleportation</a:t>
            </a:r>
          </a:p>
          <a:p>
            <a:pPr>
              <a:spcAft>
                <a:spcPts val="1000"/>
              </a:spcAft>
            </a:pPr>
            <a:r>
              <a:rPr sz="1300" b="0">
                <a:solidFill>
                  <a:srgbClr val="5B6372"/>
                </a:solidFill>
                <a:latin typeface="Arial"/>
              </a:rPr>
              <a:t>–  Sends: one QUBIT (unknown state)</a:t>
            </a:r>
          </a:p>
          <a:p>
            <a:pPr>
              <a:spcAft>
                <a:spcPts val="1000"/>
              </a:spcAft>
            </a:pPr>
            <a:r>
              <a:rPr sz="1300" b="0">
                <a:solidFill>
                  <a:srgbClr val="5B6372"/>
                </a:solidFill>
                <a:latin typeface="Arial"/>
              </a:rPr>
              <a:t>–  Consumes: 1 Bell pair + 2 classical bits</a:t>
            </a:r>
          </a:p>
          <a:p>
            <a:pPr>
              <a:spcAft>
                <a:spcPts val="1000"/>
              </a:spcAft>
            </a:pPr>
            <a:r>
              <a:rPr sz="1300" b="0">
                <a:solidFill>
                  <a:srgbClr val="5B6372"/>
                </a:solidFill>
                <a:latin typeface="Arial"/>
              </a:rPr>
              <a:t>–  Alice measures; Bob corrects</a:t>
            </a:r>
          </a:p>
          <a:p>
            <a:pPr>
              <a:spcAft>
                <a:spcPts val="1000"/>
              </a:spcAft>
            </a:pPr>
            <a:r>
              <a:rPr sz="1300" b="0">
                <a:solidFill>
                  <a:srgbClr val="5B6372"/>
                </a:solidFill>
                <a:latin typeface="Arial"/>
              </a:rPr>
              <a:t>–  Use: quantum networks, repeaters</a:t>
            </a:r>
          </a:p>
          <a:p>
            <a:pPr>
              <a:spcAft>
                <a:spcPts val="1000"/>
              </a:spcAft>
            </a:pPr>
            <a:r>
              <a:rPr sz="1300" b="0">
                <a:solidFill>
                  <a:srgbClr val="5B6372"/>
                </a:solidFill>
                <a:latin typeface="Arial"/>
              </a:rPr>
              <a:t>–  Original is destroyed (no-cloning)</a:t>
            </a:r>
          </a:p>
        </p:txBody>
      </p:sp>
      <p:sp>
        <p:nvSpPr>
          <p:cNvPr id="14" name="TextBox 13"/>
          <p:cNvSpPr txBox="1"/>
          <p:nvPr/>
        </p:nvSpPr>
        <p:spPr>
          <a:xfrm>
            <a:off x="6583680" y="2514600"/>
            <a:ext cx="4617720" cy="3383280"/>
          </a:xfrm>
          <a:prstGeom prst="rect">
            <a:avLst/>
          </a:prstGeom>
          <a:noFill/>
        </p:spPr>
        <p:txBody>
          <a:bodyPr wrap="square">
            <a:spAutoFit/>
          </a:bodyPr>
          <a:lstStyle/>
          <a:p>
            <a:pPr>
              <a:spcAft>
                <a:spcPts val="1000"/>
              </a:spcAft>
            </a:pPr>
            <a:r>
              <a:rPr sz="1500" b="0">
                <a:solidFill>
                  <a:srgbClr val="161B26"/>
                </a:solidFill>
                <a:latin typeface="Arial"/>
              </a:rPr>
              <a:t>•  Superdense coding</a:t>
            </a:r>
          </a:p>
          <a:p>
            <a:pPr>
              <a:spcAft>
                <a:spcPts val="1000"/>
              </a:spcAft>
            </a:pPr>
            <a:r>
              <a:rPr sz="1300" b="0">
                <a:solidFill>
                  <a:srgbClr val="5B6372"/>
                </a:solidFill>
                <a:latin typeface="Arial"/>
              </a:rPr>
              <a:t>–  Sends: two CLASSICAL BITS</a:t>
            </a:r>
          </a:p>
          <a:p>
            <a:pPr>
              <a:spcAft>
                <a:spcPts val="1000"/>
              </a:spcAft>
            </a:pPr>
            <a:r>
              <a:rPr sz="1300" b="0">
                <a:solidFill>
                  <a:srgbClr val="5B6372"/>
                </a:solidFill>
                <a:latin typeface="Arial"/>
              </a:rPr>
              <a:t>–  Consumes: 1 Bell pair + 1 qubit sent</a:t>
            </a:r>
          </a:p>
          <a:p>
            <a:pPr>
              <a:spcAft>
                <a:spcPts val="1000"/>
              </a:spcAft>
            </a:pPr>
            <a:r>
              <a:rPr sz="1300" b="0">
                <a:solidFill>
                  <a:srgbClr val="5B6372"/>
                </a:solidFill>
                <a:latin typeface="Arial"/>
              </a:rPr>
              <a:t>–  Alice encodes; Bob decodes</a:t>
            </a:r>
          </a:p>
          <a:p>
            <a:pPr>
              <a:spcAft>
                <a:spcPts val="1000"/>
              </a:spcAft>
            </a:pPr>
            <a:r>
              <a:rPr sz="1300" b="0">
                <a:solidFill>
                  <a:srgbClr val="5B6372"/>
                </a:solidFill>
                <a:latin typeface="Arial"/>
              </a:rPr>
              <a:t>–  Use: doubling channel capacity</a:t>
            </a:r>
          </a:p>
          <a:p>
            <a:pPr>
              <a:spcAft>
                <a:spcPts val="1000"/>
              </a:spcAft>
            </a:pPr>
            <a:r>
              <a:rPr sz="1300" b="0">
                <a:solidFill>
                  <a:srgbClr val="5B6372"/>
                </a:solidFill>
                <a:latin typeface="Arial"/>
              </a:rPr>
              <a:t>–  Beats Holevo's bound only via prior entanglement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SECURE KEY EXCHANGE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 Quantum Key Distribution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b84.png"/>
          <p:cNvPicPr>
            <a:picLocks noChangeAspect="1"/>
          </p:cNvPicPr>
          <p:nvPr/>
        </p:nvPicPr>
        <p:blipFill>
          <a:blip r:embed="rId2"/>
          <a:stretch>
            <a:fillRect/>
          </a:stretch>
        </p:blipFill>
        <p:spPr>
          <a:xfrm>
            <a:off x="777240" y="2335631"/>
            <a:ext cx="6309360" cy="3284016"/>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Security rests on no-cloning and measurement disturbance — not on computational difficulty.</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Bennett &amp; Brassard, 1984</a:t>
            </a:r>
          </a:p>
          <a:p>
            <a:pPr algn="l">
              <a:spcAft>
                <a:spcPts val="300"/>
              </a:spcAft>
            </a:pPr>
            <a:r>
              <a:rPr sz="1150" b="0">
                <a:solidFill>
                  <a:srgbClr val="161B26"/>
                </a:solidFill>
                <a:latin typeface="Arial"/>
              </a:rPr>
              <a:t>The first and most famous QKD protocol — provably secure by physics, not by hardness.</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Two bases</a:t>
            </a:r>
          </a:p>
          <a:p>
            <a:pPr algn="l">
              <a:spcAft>
                <a:spcPts val="300"/>
              </a:spcAft>
            </a:pPr>
            <a:r>
              <a:rPr sz="1150" b="0">
                <a:solidFill>
                  <a:srgbClr val="161B26"/>
                </a:solidFill>
                <a:latin typeface="Arial"/>
              </a:rPr>
              <a:t>Alice encodes each bit in the Z basis (|0&gt;, |1&gt;) or the X basis (|+&gt;, |-&gt;), chosen at random.</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Sifting</a:t>
            </a:r>
          </a:p>
          <a:p>
            <a:pPr algn="l">
              <a:spcAft>
                <a:spcPts val="300"/>
              </a:spcAft>
            </a:pPr>
            <a:r>
              <a:rPr sz="1150" b="0">
                <a:solidFill>
                  <a:srgbClr val="161B26"/>
                </a:solidFill>
                <a:latin typeface="Arial"/>
              </a:rPr>
              <a:t>Alice and Bob publicly compare BASES (never bits) and keep only the matched positions.</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Eve is caught</a:t>
            </a:r>
          </a:p>
          <a:p>
            <a:pPr algn="l">
              <a:spcAft>
                <a:spcPts val="300"/>
              </a:spcAft>
            </a:pPr>
            <a:r>
              <a:rPr sz="1150" b="0">
                <a:solidFill>
                  <a:srgbClr val="161B26"/>
                </a:solidFill>
                <a:latin typeface="Arial"/>
              </a:rPr>
              <a:t>Measuring in the wrong basis disturbs the state, injecting about a 25% error rate in the sifted key.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HOW THE KEY IS AGREED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BB84 Protocol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Alice picks a random bit and a random basis for each qubit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Alice sends the encoded qubits over the quantum channel</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Bob measures each qubit in his own randomly chosen basis</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They publicly compare bases and discard the mismatches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They sacrifice some bits to check the error rate for Eve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HOW WE MEASURE QUANTUM ADVANTAGE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Query (Oracle)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setup</a:t>
            </a:r>
          </a:p>
          <a:p>
            <a:pPr algn="l">
              <a:spcAft>
                <a:spcPts val="300"/>
              </a:spcAft>
            </a:pPr>
            <a:r>
              <a:rPr sz="1100" b="0">
                <a:solidFill>
                  <a:srgbClr val="5B6372"/>
                </a:solidFill>
                <a:latin typeface="Arial"/>
              </a:rPr>
              <a:t>An unknown function f is hidden inside a black box. You may only ASK it about inputs.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measure</a:t>
            </a:r>
          </a:p>
          <a:p>
            <a:pPr algn="l">
              <a:spcAft>
                <a:spcPts val="300"/>
              </a:spcAft>
            </a:pPr>
            <a:r>
              <a:rPr sz="1100" b="0">
                <a:solidFill>
                  <a:srgbClr val="5B6372"/>
                </a:solidFill>
                <a:latin typeface="Arial"/>
              </a:rPr>
              <a:t>Count the QUERIES, not the gates. This isolates true quantum advantage from implementation detail.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quantum oracle</a:t>
            </a:r>
          </a:p>
          <a:p>
            <a:pPr algn="l">
              <a:spcAft>
                <a:spcPts val="300"/>
              </a:spcAft>
            </a:pPr>
            <a:r>
              <a:rPr sz="1100" b="0">
                <a:solidFill>
                  <a:srgbClr val="5B6372"/>
                </a:solidFill>
                <a:latin typeface="Arial"/>
              </a:rPr>
              <a:t>A unitary U_f that maps |x&gt;|y&gt; to |x&gt;|y XOR f(x)&gt; — reversible, as every gate must be.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Why XOR</a:t>
            </a:r>
          </a:p>
          <a:p>
            <a:pPr algn="l">
              <a:spcAft>
                <a:spcPts val="300"/>
              </a:spcAft>
            </a:pPr>
            <a:r>
              <a:rPr sz="1100" b="0">
                <a:solidFill>
                  <a:srgbClr val="5B6372"/>
                </a:solidFill>
                <a:latin typeface="Arial"/>
              </a:rPr>
              <a:t>Writing the answer into a second register keeps the oracle reversible and enables phase kickback.</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Superposition query</a:t>
            </a:r>
          </a:p>
          <a:p>
            <a:pPr algn="l">
              <a:spcAft>
                <a:spcPts val="300"/>
              </a:spcAft>
            </a:pPr>
            <a:r>
              <a:rPr sz="1100" b="0">
                <a:solidFill>
                  <a:srgbClr val="5B6372"/>
                </a:solidFill>
                <a:latin typeface="Arial"/>
              </a:rPr>
              <a:t>One query on a superposed input evaluates f on ALL inputs at once.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catch</a:t>
            </a:r>
          </a:p>
          <a:p>
            <a:pPr algn="l">
              <a:spcAft>
                <a:spcPts val="300"/>
              </a:spcAft>
            </a:pPr>
            <a:r>
              <a:rPr sz="1100" b="0">
                <a:solidFill>
                  <a:srgbClr val="5B6372"/>
                </a:solidFill>
                <a:latin typeface="Arial"/>
              </a:rPr>
              <a:t>Measurement returns only ONE answer — the algorithm must use interference to extract a GLOBAL property.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FIRST QUANTUM SPEEDUP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Deutsch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eutsch.png"/>
          <p:cNvPicPr>
            <a:picLocks noChangeAspect="1"/>
          </p:cNvPicPr>
          <p:nvPr/>
        </p:nvPicPr>
        <p:blipFill>
          <a:blip r:embed="rId2"/>
          <a:stretch>
            <a:fillRect/>
          </a:stretch>
        </p:blipFill>
        <p:spPr>
          <a:xfrm>
            <a:off x="777240" y="2665837"/>
            <a:ext cx="6309360" cy="2623604"/>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Two classical queries become one quantum query.</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The question</a:t>
            </a:r>
          </a:p>
          <a:p>
            <a:pPr algn="l">
              <a:spcAft>
                <a:spcPts val="300"/>
              </a:spcAft>
            </a:pPr>
            <a:r>
              <a:rPr sz="1150" b="0">
                <a:solidFill>
                  <a:srgbClr val="161B26"/>
                </a:solidFill>
                <a:latin typeface="Arial"/>
              </a:rPr>
              <a:t>Is f: {0,1} to {0,1} CONSTANT (same output) or BALANCED (different outputs)?</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Classically</a:t>
            </a:r>
          </a:p>
          <a:p>
            <a:pPr algn="l">
              <a:spcAft>
                <a:spcPts val="300"/>
              </a:spcAft>
            </a:pPr>
            <a:r>
              <a:rPr sz="1150" b="0">
                <a:solidFill>
                  <a:srgbClr val="161B26"/>
                </a:solidFill>
                <a:latin typeface="Arial"/>
              </a:rPr>
              <a:t>You must evaluate f twice — f(0) and f(1) — and compare them.</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Quantum</a:t>
            </a:r>
          </a:p>
          <a:p>
            <a:pPr algn="l">
              <a:spcAft>
                <a:spcPts val="300"/>
              </a:spcAft>
            </a:pPr>
            <a:r>
              <a:rPr sz="1150" b="0">
                <a:solidFill>
                  <a:srgbClr val="161B26"/>
                </a:solidFill>
                <a:latin typeface="Arial"/>
              </a:rPr>
              <a:t>ONE query. Measure the control: 0 means constant, 1 means balanced.</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The mechanism</a:t>
            </a:r>
          </a:p>
          <a:p>
            <a:pPr algn="l">
              <a:spcAft>
                <a:spcPts val="300"/>
              </a:spcAft>
            </a:pPr>
            <a:r>
              <a:rPr sz="1150" b="0">
                <a:solidFill>
                  <a:srgbClr val="161B26"/>
                </a:solidFill>
                <a:latin typeface="Arial"/>
              </a:rPr>
              <a:t>Phase kickback writes f(0) XOR f(1) into the control's phase; the final H turns it into a bit.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EXPONENTIAL ADVANTAGE · DETERMINISTIC</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Deutsch-Jozsa — The Full Speedup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297765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74519"/>
            <a:ext cx="2794772" cy="475488"/>
          </a:xfrm>
          <a:prstGeom prst="rect">
            <a:avLst/>
          </a:prstGeom>
          <a:noFill/>
        </p:spPr>
        <p:txBody>
          <a:bodyPr wrap="square" anchor="ctr">
            <a:spAutoFit/>
          </a:bodyPr>
          <a:lstStyle/>
          <a:p>
            <a:pPr algn="l">
              <a:spcAft>
                <a:spcPts val="400"/>
              </a:spcAft>
            </a:pPr>
            <a:r>
              <a:rPr sz="1250" b="1">
                <a:solidFill>
                  <a:srgbClr val="FFFFFF"/>
                </a:solidFill>
                <a:latin typeface="Arial"/>
              </a:rPr>
              <a:t/>
            </a:r>
          </a:p>
        </p:txBody>
      </p:sp>
      <p:sp>
        <p:nvSpPr>
          <p:cNvPr id="9" name="Rectangle 8"/>
          <p:cNvSpPr/>
          <p:nvPr/>
        </p:nvSpPr>
        <p:spPr>
          <a:xfrm>
            <a:off x="3754892" y="1874519"/>
            <a:ext cx="3828409"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82908" y="1874519"/>
            <a:ext cx="3645529" cy="475488"/>
          </a:xfrm>
          <a:prstGeom prst="rect">
            <a:avLst/>
          </a:prstGeom>
          <a:noFill/>
        </p:spPr>
        <p:txBody>
          <a:bodyPr wrap="square" anchor="ctr">
            <a:spAutoFit/>
          </a:bodyPr>
          <a:lstStyle/>
          <a:p>
            <a:pPr algn="l">
              <a:spcAft>
                <a:spcPts val="400"/>
              </a:spcAft>
            </a:pPr>
            <a:r>
              <a:rPr sz="1250" b="1">
                <a:solidFill>
                  <a:srgbClr val="FFFFFF"/>
                </a:solidFill>
                <a:latin typeface="Arial"/>
              </a:rPr>
              <a:t>Classical (worst case)</a:t>
            </a:r>
          </a:p>
        </p:txBody>
      </p:sp>
      <p:sp>
        <p:nvSpPr>
          <p:cNvPr id="11" name="Rectangle 10"/>
          <p:cNvSpPr/>
          <p:nvPr/>
        </p:nvSpPr>
        <p:spPr>
          <a:xfrm>
            <a:off x="7583302" y="1874519"/>
            <a:ext cx="3828409"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11318" y="1874519"/>
            <a:ext cx="3645529" cy="475488"/>
          </a:xfrm>
          <a:prstGeom prst="rect">
            <a:avLst/>
          </a:prstGeom>
          <a:noFill/>
        </p:spPr>
        <p:txBody>
          <a:bodyPr wrap="square" anchor="ctr">
            <a:spAutoFit/>
          </a:bodyPr>
          <a:lstStyle/>
          <a:p>
            <a:pPr algn="l">
              <a:spcAft>
                <a:spcPts val="400"/>
              </a:spcAft>
            </a:pPr>
            <a:r>
              <a:rPr sz="1250" b="1">
                <a:solidFill>
                  <a:srgbClr val="FFFFFF"/>
                </a:solidFill>
                <a:latin typeface="Arial"/>
              </a:rPr>
              <a:t>Quantum (Deutsch-Jozsa)</a:t>
            </a:r>
          </a:p>
        </p:txBody>
      </p:sp>
      <p:sp>
        <p:nvSpPr>
          <p:cNvPr id="13" name="Rectangle 12"/>
          <p:cNvSpPr/>
          <p:nvPr/>
        </p:nvSpPr>
        <p:spPr>
          <a:xfrm>
            <a:off x="777240" y="2350007"/>
            <a:ext cx="297765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350007"/>
            <a:ext cx="2794772" cy="475488"/>
          </a:xfrm>
          <a:prstGeom prst="rect">
            <a:avLst/>
          </a:prstGeom>
          <a:noFill/>
        </p:spPr>
        <p:txBody>
          <a:bodyPr wrap="square" anchor="ctr">
            <a:spAutoFit/>
          </a:bodyPr>
          <a:lstStyle/>
          <a:p>
            <a:pPr algn="l">
              <a:spcAft>
                <a:spcPts val="400"/>
              </a:spcAft>
            </a:pPr>
            <a:r>
              <a:rPr sz="1150" b="1">
                <a:solidFill>
                  <a:srgbClr val="161B26"/>
                </a:solidFill>
                <a:latin typeface="Arial"/>
              </a:rPr>
              <a:t>Queries needed</a:t>
            </a:r>
          </a:p>
        </p:txBody>
      </p:sp>
      <p:sp>
        <p:nvSpPr>
          <p:cNvPr id="15" name="Rectangle 14"/>
          <p:cNvSpPr/>
          <p:nvPr/>
        </p:nvSpPr>
        <p:spPr>
          <a:xfrm>
            <a:off x="3754892" y="2350007"/>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82908" y="2350007"/>
            <a:ext cx="3645529" cy="475488"/>
          </a:xfrm>
          <a:prstGeom prst="rect">
            <a:avLst/>
          </a:prstGeom>
          <a:noFill/>
        </p:spPr>
        <p:txBody>
          <a:bodyPr wrap="square" anchor="ctr">
            <a:spAutoFit/>
          </a:bodyPr>
          <a:lstStyle/>
          <a:p>
            <a:pPr algn="l">
              <a:spcAft>
                <a:spcPts val="400"/>
              </a:spcAft>
            </a:pPr>
            <a:r>
              <a:rPr sz="1150" b="0">
                <a:solidFill>
                  <a:srgbClr val="161B26"/>
                </a:solidFill>
                <a:latin typeface="Arial"/>
              </a:rPr>
              <a:t>2^(n-1) + 1</a:t>
            </a:r>
          </a:p>
        </p:txBody>
      </p:sp>
      <p:sp>
        <p:nvSpPr>
          <p:cNvPr id="17" name="Rectangle 16"/>
          <p:cNvSpPr/>
          <p:nvPr/>
        </p:nvSpPr>
        <p:spPr>
          <a:xfrm>
            <a:off x="7583302" y="2350007"/>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11318" y="2350007"/>
            <a:ext cx="3645529" cy="475488"/>
          </a:xfrm>
          <a:prstGeom prst="rect">
            <a:avLst/>
          </a:prstGeom>
          <a:noFill/>
        </p:spPr>
        <p:txBody>
          <a:bodyPr wrap="square" anchor="ctr">
            <a:spAutoFit/>
          </a:bodyPr>
          <a:lstStyle/>
          <a:p>
            <a:pPr algn="l">
              <a:spcAft>
                <a:spcPts val="400"/>
              </a:spcAft>
            </a:pPr>
            <a:r>
              <a:rPr sz="1150" b="0">
                <a:solidFill>
                  <a:srgbClr val="161B26"/>
                </a:solidFill>
                <a:latin typeface="Arial"/>
              </a:rPr>
              <a:t>1</a:t>
            </a:r>
          </a:p>
        </p:txBody>
      </p:sp>
      <p:sp>
        <p:nvSpPr>
          <p:cNvPr id="19" name="Rectangle 18"/>
          <p:cNvSpPr/>
          <p:nvPr/>
        </p:nvSpPr>
        <p:spPr>
          <a:xfrm>
            <a:off x="777240" y="2825495"/>
            <a:ext cx="297765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25495"/>
            <a:ext cx="2794772" cy="475488"/>
          </a:xfrm>
          <a:prstGeom prst="rect">
            <a:avLst/>
          </a:prstGeom>
          <a:noFill/>
        </p:spPr>
        <p:txBody>
          <a:bodyPr wrap="square" anchor="ctr">
            <a:spAutoFit/>
          </a:bodyPr>
          <a:lstStyle/>
          <a:p>
            <a:pPr algn="l">
              <a:spcAft>
                <a:spcPts val="400"/>
              </a:spcAft>
            </a:pPr>
            <a:r>
              <a:rPr sz="1150" b="1">
                <a:solidFill>
                  <a:srgbClr val="161B26"/>
                </a:solidFill>
                <a:latin typeface="Arial"/>
              </a:rPr>
              <a:t>n = 3</a:t>
            </a:r>
          </a:p>
        </p:txBody>
      </p:sp>
      <p:sp>
        <p:nvSpPr>
          <p:cNvPr id="21" name="Rectangle 20"/>
          <p:cNvSpPr/>
          <p:nvPr/>
        </p:nvSpPr>
        <p:spPr>
          <a:xfrm>
            <a:off x="3754892" y="2825495"/>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82908" y="2825495"/>
            <a:ext cx="3645529" cy="475488"/>
          </a:xfrm>
          <a:prstGeom prst="rect">
            <a:avLst/>
          </a:prstGeom>
          <a:noFill/>
        </p:spPr>
        <p:txBody>
          <a:bodyPr wrap="square" anchor="ctr">
            <a:spAutoFit/>
          </a:bodyPr>
          <a:lstStyle/>
          <a:p>
            <a:pPr algn="l">
              <a:spcAft>
                <a:spcPts val="400"/>
              </a:spcAft>
            </a:pPr>
            <a:r>
              <a:rPr sz="1150" b="0">
                <a:solidFill>
                  <a:srgbClr val="161B26"/>
                </a:solidFill>
                <a:latin typeface="Arial"/>
              </a:rPr>
              <a:t>5 queries</a:t>
            </a:r>
          </a:p>
        </p:txBody>
      </p:sp>
      <p:sp>
        <p:nvSpPr>
          <p:cNvPr id="23" name="Rectangle 22"/>
          <p:cNvSpPr/>
          <p:nvPr/>
        </p:nvSpPr>
        <p:spPr>
          <a:xfrm>
            <a:off x="7583302" y="2825495"/>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711318" y="2825495"/>
            <a:ext cx="3645529" cy="475488"/>
          </a:xfrm>
          <a:prstGeom prst="rect">
            <a:avLst/>
          </a:prstGeom>
          <a:noFill/>
        </p:spPr>
        <p:txBody>
          <a:bodyPr wrap="square" anchor="ctr">
            <a:spAutoFit/>
          </a:bodyPr>
          <a:lstStyle/>
          <a:p>
            <a:pPr algn="l">
              <a:spcAft>
                <a:spcPts val="400"/>
              </a:spcAft>
            </a:pPr>
            <a:r>
              <a:rPr sz="1150" b="0">
                <a:solidFill>
                  <a:srgbClr val="161B26"/>
                </a:solidFill>
                <a:latin typeface="Arial"/>
              </a:rPr>
              <a:t>1 query</a:t>
            </a:r>
          </a:p>
        </p:txBody>
      </p:sp>
      <p:sp>
        <p:nvSpPr>
          <p:cNvPr id="25" name="Rectangle 24"/>
          <p:cNvSpPr/>
          <p:nvPr/>
        </p:nvSpPr>
        <p:spPr>
          <a:xfrm>
            <a:off x="777240" y="3300983"/>
            <a:ext cx="297765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300983"/>
            <a:ext cx="2794772" cy="475488"/>
          </a:xfrm>
          <a:prstGeom prst="rect">
            <a:avLst/>
          </a:prstGeom>
          <a:noFill/>
        </p:spPr>
        <p:txBody>
          <a:bodyPr wrap="square" anchor="ctr">
            <a:spAutoFit/>
          </a:bodyPr>
          <a:lstStyle/>
          <a:p>
            <a:pPr algn="l">
              <a:spcAft>
                <a:spcPts val="400"/>
              </a:spcAft>
            </a:pPr>
            <a:r>
              <a:rPr sz="1150" b="1">
                <a:solidFill>
                  <a:srgbClr val="161B26"/>
                </a:solidFill>
                <a:latin typeface="Arial"/>
              </a:rPr>
              <a:t>n = 10</a:t>
            </a:r>
          </a:p>
        </p:txBody>
      </p:sp>
      <p:sp>
        <p:nvSpPr>
          <p:cNvPr id="27" name="Rectangle 26"/>
          <p:cNvSpPr/>
          <p:nvPr/>
        </p:nvSpPr>
        <p:spPr>
          <a:xfrm>
            <a:off x="3754892" y="3300983"/>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882908" y="3300983"/>
            <a:ext cx="3645529" cy="475488"/>
          </a:xfrm>
          <a:prstGeom prst="rect">
            <a:avLst/>
          </a:prstGeom>
          <a:noFill/>
        </p:spPr>
        <p:txBody>
          <a:bodyPr wrap="square" anchor="ctr">
            <a:spAutoFit/>
          </a:bodyPr>
          <a:lstStyle/>
          <a:p>
            <a:pPr algn="l">
              <a:spcAft>
                <a:spcPts val="400"/>
              </a:spcAft>
            </a:pPr>
            <a:r>
              <a:rPr sz="1150" b="0">
                <a:solidFill>
                  <a:srgbClr val="161B26"/>
                </a:solidFill>
                <a:latin typeface="Arial"/>
              </a:rPr>
              <a:t>513 queries</a:t>
            </a:r>
          </a:p>
        </p:txBody>
      </p:sp>
      <p:sp>
        <p:nvSpPr>
          <p:cNvPr id="29" name="Rectangle 28"/>
          <p:cNvSpPr/>
          <p:nvPr/>
        </p:nvSpPr>
        <p:spPr>
          <a:xfrm>
            <a:off x="7583302" y="3300983"/>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11318" y="3300983"/>
            <a:ext cx="3645529" cy="475488"/>
          </a:xfrm>
          <a:prstGeom prst="rect">
            <a:avLst/>
          </a:prstGeom>
          <a:noFill/>
        </p:spPr>
        <p:txBody>
          <a:bodyPr wrap="square" anchor="ctr">
            <a:spAutoFit/>
          </a:bodyPr>
          <a:lstStyle/>
          <a:p>
            <a:pPr algn="l">
              <a:spcAft>
                <a:spcPts val="400"/>
              </a:spcAft>
            </a:pPr>
            <a:r>
              <a:rPr sz="1150" b="0">
                <a:solidFill>
                  <a:srgbClr val="161B26"/>
                </a:solidFill>
                <a:latin typeface="Arial"/>
              </a:rPr>
              <a:t>1 query</a:t>
            </a:r>
          </a:p>
        </p:txBody>
      </p:sp>
      <p:sp>
        <p:nvSpPr>
          <p:cNvPr id="31" name="Rectangle 30"/>
          <p:cNvSpPr/>
          <p:nvPr/>
        </p:nvSpPr>
        <p:spPr>
          <a:xfrm>
            <a:off x="777240" y="3776471"/>
            <a:ext cx="297765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76471"/>
            <a:ext cx="2794772" cy="475488"/>
          </a:xfrm>
          <a:prstGeom prst="rect">
            <a:avLst/>
          </a:prstGeom>
          <a:noFill/>
        </p:spPr>
        <p:txBody>
          <a:bodyPr wrap="square" anchor="ctr">
            <a:spAutoFit/>
          </a:bodyPr>
          <a:lstStyle/>
          <a:p>
            <a:pPr algn="l">
              <a:spcAft>
                <a:spcPts val="400"/>
              </a:spcAft>
            </a:pPr>
            <a:r>
              <a:rPr sz="1150" b="1">
                <a:solidFill>
                  <a:srgbClr val="161B26"/>
                </a:solidFill>
                <a:latin typeface="Arial"/>
              </a:rPr>
              <a:t>n = 20</a:t>
            </a:r>
          </a:p>
        </p:txBody>
      </p:sp>
      <p:sp>
        <p:nvSpPr>
          <p:cNvPr id="33" name="Rectangle 32"/>
          <p:cNvSpPr/>
          <p:nvPr/>
        </p:nvSpPr>
        <p:spPr>
          <a:xfrm>
            <a:off x="3754892" y="3776471"/>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882908" y="3776471"/>
            <a:ext cx="3645529" cy="475488"/>
          </a:xfrm>
          <a:prstGeom prst="rect">
            <a:avLst/>
          </a:prstGeom>
          <a:noFill/>
        </p:spPr>
        <p:txBody>
          <a:bodyPr wrap="square" anchor="ctr">
            <a:spAutoFit/>
          </a:bodyPr>
          <a:lstStyle/>
          <a:p>
            <a:pPr algn="l">
              <a:spcAft>
                <a:spcPts val="400"/>
              </a:spcAft>
            </a:pPr>
            <a:r>
              <a:rPr sz="1150" b="0">
                <a:solidFill>
                  <a:srgbClr val="161B26"/>
                </a:solidFill>
                <a:latin typeface="Arial"/>
              </a:rPr>
              <a:t>524,289 queries</a:t>
            </a:r>
          </a:p>
        </p:txBody>
      </p:sp>
      <p:sp>
        <p:nvSpPr>
          <p:cNvPr id="35" name="Rectangle 34"/>
          <p:cNvSpPr/>
          <p:nvPr/>
        </p:nvSpPr>
        <p:spPr>
          <a:xfrm>
            <a:off x="7583302" y="3776471"/>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11318" y="3776471"/>
            <a:ext cx="3645529" cy="475488"/>
          </a:xfrm>
          <a:prstGeom prst="rect">
            <a:avLst/>
          </a:prstGeom>
          <a:noFill/>
        </p:spPr>
        <p:txBody>
          <a:bodyPr wrap="square" anchor="ctr">
            <a:spAutoFit/>
          </a:bodyPr>
          <a:lstStyle/>
          <a:p>
            <a:pPr algn="l">
              <a:spcAft>
                <a:spcPts val="400"/>
              </a:spcAft>
            </a:pPr>
            <a:r>
              <a:rPr sz="1150" b="0">
                <a:solidFill>
                  <a:srgbClr val="161B26"/>
                </a:solidFill>
                <a:latin typeface="Arial"/>
              </a:rPr>
              <a:t>1 query</a:t>
            </a:r>
          </a:p>
        </p:txBody>
      </p:sp>
      <p:sp>
        <p:nvSpPr>
          <p:cNvPr id="37" name="Rectangle 36"/>
          <p:cNvSpPr/>
          <p:nvPr/>
        </p:nvSpPr>
        <p:spPr>
          <a:xfrm>
            <a:off x="777240" y="4251959"/>
            <a:ext cx="2977652"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251959"/>
            <a:ext cx="2794772" cy="475488"/>
          </a:xfrm>
          <a:prstGeom prst="rect">
            <a:avLst/>
          </a:prstGeom>
          <a:noFill/>
        </p:spPr>
        <p:txBody>
          <a:bodyPr wrap="square" anchor="ctr">
            <a:spAutoFit/>
          </a:bodyPr>
          <a:lstStyle/>
          <a:p>
            <a:pPr algn="l">
              <a:spcAft>
                <a:spcPts val="400"/>
              </a:spcAft>
            </a:pPr>
            <a:r>
              <a:rPr sz="1150" b="1">
                <a:solidFill>
                  <a:srgbClr val="161B26"/>
                </a:solidFill>
                <a:latin typeface="Arial"/>
              </a:rPr>
              <a:t>Certainty</a:t>
            </a:r>
          </a:p>
        </p:txBody>
      </p:sp>
      <p:sp>
        <p:nvSpPr>
          <p:cNvPr id="39" name="Rectangle 38"/>
          <p:cNvSpPr/>
          <p:nvPr/>
        </p:nvSpPr>
        <p:spPr>
          <a:xfrm>
            <a:off x="3754892" y="4251959"/>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882908" y="4251959"/>
            <a:ext cx="3645529" cy="475488"/>
          </a:xfrm>
          <a:prstGeom prst="rect">
            <a:avLst/>
          </a:prstGeom>
          <a:noFill/>
        </p:spPr>
        <p:txBody>
          <a:bodyPr wrap="square" anchor="ctr">
            <a:spAutoFit/>
          </a:bodyPr>
          <a:lstStyle/>
          <a:p>
            <a:pPr algn="l">
              <a:spcAft>
                <a:spcPts val="400"/>
              </a:spcAft>
            </a:pPr>
            <a:r>
              <a:rPr sz="1150" b="0">
                <a:solidFill>
                  <a:srgbClr val="161B26"/>
                </a:solidFill>
                <a:latin typeface="Arial"/>
              </a:rPr>
              <a:t>Deterministic</a:t>
            </a:r>
          </a:p>
        </p:txBody>
      </p:sp>
      <p:sp>
        <p:nvSpPr>
          <p:cNvPr id="41" name="Rectangle 40"/>
          <p:cNvSpPr/>
          <p:nvPr/>
        </p:nvSpPr>
        <p:spPr>
          <a:xfrm>
            <a:off x="7583302" y="4251959"/>
            <a:ext cx="382840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711318" y="4251959"/>
            <a:ext cx="3645529" cy="475488"/>
          </a:xfrm>
          <a:prstGeom prst="rect">
            <a:avLst/>
          </a:prstGeom>
          <a:noFill/>
        </p:spPr>
        <p:txBody>
          <a:bodyPr wrap="square" anchor="ctr">
            <a:spAutoFit/>
          </a:bodyPr>
          <a:lstStyle/>
          <a:p>
            <a:pPr algn="l">
              <a:spcAft>
                <a:spcPts val="400"/>
              </a:spcAft>
            </a:pPr>
            <a:r>
              <a:rPr sz="1150" b="0">
                <a:solidFill>
                  <a:srgbClr val="161B26"/>
                </a:solidFill>
                <a:latin typeface="Arial"/>
              </a:rPr>
              <a:t>Deterministic</a:t>
            </a:r>
          </a:p>
        </p:txBody>
      </p:sp>
      <p:sp>
        <p:nvSpPr>
          <p:cNvPr id="43" name="Rectangle 42"/>
          <p:cNvSpPr/>
          <p:nvPr/>
        </p:nvSpPr>
        <p:spPr>
          <a:xfrm>
            <a:off x="777240" y="4727447"/>
            <a:ext cx="2977652"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727447"/>
            <a:ext cx="2794772" cy="475488"/>
          </a:xfrm>
          <a:prstGeom prst="rect">
            <a:avLst/>
          </a:prstGeom>
          <a:noFill/>
        </p:spPr>
        <p:txBody>
          <a:bodyPr wrap="square" anchor="ctr">
            <a:spAutoFit/>
          </a:bodyPr>
          <a:lstStyle/>
          <a:p>
            <a:pPr algn="l">
              <a:spcAft>
                <a:spcPts val="400"/>
              </a:spcAft>
            </a:pPr>
            <a:r>
              <a:rPr sz="1150" b="1">
                <a:solidFill>
                  <a:srgbClr val="161B26"/>
                </a:solidFill>
                <a:latin typeface="Arial"/>
              </a:rPr>
              <a:t>Reading the result</a:t>
            </a:r>
          </a:p>
        </p:txBody>
      </p:sp>
      <p:sp>
        <p:nvSpPr>
          <p:cNvPr id="45" name="Rectangle 44"/>
          <p:cNvSpPr/>
          <p:nvPr/>
        </p:nvSpPr>
        <p:spPr>
          <a:xfrm>
            <a:off x="3754892" y="4727447"/>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882908" y="4727447"/>
            <a:ext cx="3645529" cy="475488"/>
          </a:xfrm>
          <a:prstGeom prst="rect">
            <a:avLst/>
          </a:prstGeom>
          <a:noFill/>
        </p:spPr>
        <p:txBody>
          <a:bodyPr wrap="square" anchor="ctr">
            <a:spAutoFit/>
          </a:bodyPr>
          <a:lstStyle/>
          <a:p>
            <a:pPr algn="l">
              <a:spcAft>
                <a:spcPts val="400"/>
              </a:spcAft>
            </a:pPr>
            <a:r>
              <a:rPr sz="1150" b="0">
                <a:solidFill>
                  <a:srgbClr val="161B26"/>
                </a:solidFill>
                <a:latin typeface="Arial"/>
              </a:rPr>
              <a:t>Compare outputs</a:t>
            </a:r>
          </a:p>
        </p:txBody>
      </p:sp>
      <p:sp>
        <p:nvSpPr>
          <p:cNvPr id="47" name="Rectangle 46"/>
          <p:cNvSpPr/>
          <p:nvPr/>
        </p:nvSpPr>
        <p:spPr>
          <a:xfrm>
            <a:off x="7583302" y="4727447"/>
            <a:ext cx="382840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711318" y="4727447"/>
            <a:ext cx="3645529" cy="475488"/>
          </a:xfrm>
          <a:prstGeom prst="rect">
            <a:avLst/>
          </a:prstGeom>
          <a:noFill/>
        </p:spPr>
        <p:txBody>
          <a:bodyPr wrap="square" anchor="ctr">
            <a:spAutoFit/>
          </a:bodyPr>
          <a:lstStyle/>
          <a:p>
            <a:pPr algn="l">
              <a:spcAft>
                <a:spcPts val="400"/>
              </a:spcAft>
            </a:pPr>
            <a:r>
              <a:rPr sz="1150" b="0">
                <a:solidFill>
                  <a:srgbClr val="161B26"/>
                </a:solidFill>
                <a:latin typeface="Arial"/>
              </a:rPr>
              <a:t>All zeros = constant; anything else = balanced</a:t>
            </a:r>
          </a:p>
        </p:txBody>
      </p:sp>
      <p:sp>
        <p:nvSpPr>
          <p:cNvPr id="49" name="TextBox 4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50" name="TextBox 4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1" name="TextBox 5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 QUERIES BECOME ONE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Bernstein-Vazirani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ernstein-vazirani.png"/>
          <p:cNvPicPr>
            <a:picLocks noChangeAspect="1"/>
          </p:cNvPicPr>
          <p:nvPr/>
        </p:nvPicPr>
        <p:blipFill>
          <a:blip r:embed="rId2"/>
          <a:stretch>
            <a:fillRect/>
          </a:stretch>
        </p:blipFill>
        <p:spPr>
          <a:xfrm>
            <a:off x="777240" y="2595800"/>
            <a:ext cx="6309360" cy="2763677"/>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The hidden string appears directly in the measurement histogram.</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The problem</a:t>
            </a:r>
          </a:p>
          <a:p>
            <a:pPr algn="l">
              <a:spcAft>
                <a:spcPts val="300"/>
              </a:spcAft>
            </a:pPr>
            <a:r>
              <a:rPr sz="1150" b="0">
                <a:solidFill>
                  <a:srgbClr val="161B26"/>
                </a:solidFill>
                <a:latin typeface="Arial"/>
              </a:rPr>
              <a:t>f(x) = s.x mod 2 for a hidden n-bit string s. Find s.</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Classically</a:t>
            </a:r>
          </a:p>
          <a:p>
            <a:pPr algn="l">
              <a:spcAft>
                <a:spcPts val="300"/>
              </a:spcAft>
            </a:pPr>
            <a:r>
              <a:rPr sz="1150" b="0">
                <a:solidFill>
                  <a:srgbClr val="161B26"/>
                </a:solidFill>
                <a:latin typeface="Arial"/>
              </a:rPr>
              <a:t>n queries — probe one bit at a time with 100...0, 010...0 and so on.</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Quantum</a:t>
            </a:r>
          </a:p>
          <a:p>
            <a:pPr algn="l">
              <a:spcAft>
                <a:spcPts val="300"/>
              </a:spcAft>
            </a:pPr>
            <a:r>
              <a:rPr sz="1150" b="0">
                <a:solidFill>
                  <a:srgbClr val="161B26"/>
                </a:solidFill>
                <a:latin typeface="Arial"/>
              </a:rPr>
              <a:t>ONE query recovers all n bits of s simultaneously.</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The oracle</a:t>
            </a:r>
          </a:p>
          <a:p>
            <a:pPr algn="l">
              <a:spcAft>
                <a:spcPts val="300"/>
              </a:spcAft>
            </a:pPr>
            <a:r>
              <a:rPr sz="1150" b="0">
                <a:solidFill>
                  <a:srgbClr val="161B26"/>
                </a:solidFill>
                <a:latin typeface="Arial"/>
              </a:rPr>
              <a:t>One CNOT from each input qubit where s has a 1, onto the |-&gt; ancilla.</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 UNSTRUCTURED SEARCH</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Search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over.png"/>
          <p:cNvPicPr>
            <a:picLocks noChangeAspect="1"/>
          </p:cNvPicPr>
          <p:nvPr/>
        </p:nvPicPr>
        <p:blipFill>
          <a:blip r:embed="rId2"/>
          <a:stretch>
            <a:fillRect/>
          </a:stretch>
        </p:blipFill>
        <p:spPr>
          <a:xfrm>
            <a:off x="777240" y="2825696"/>
            <a:ext cx="6309360" cy="2303885"/>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Amplitude amplification: each iteration rotates the state toward the marked item.</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The problem</a:t>
            </a:r>
          </a:p>
          <a:p>
            <a:pPr algn="l">
              <a:spcAft>
                <a:spcPts val="300"/>
              </a:spcAft>
            </a:pPr>
            <a:r>
              <a:rPr sz="1150" b="0">
                <a:solidFill>
                  <a:srgbClr val="161B26"/>
                </a:solidFill>
                <a:latin typeface="Arial"/>
              </a:rPr>
              <a:t>Find the one marked item among N unsorted items.</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Classically</a:t>
            </a:r>
          </a:p>
          <a:p>
            <a:pPr algn="l">
              <a:spcAft>
                <a:spcPts val="300"/>
              </a:spcAft>
            </a:pPr>
            <a:r>
              <a:rPr sz="1150" b="0">
                <a:solidFill>
                  <a:srgbClr val="161B26"/>
                </a:solidFill>
                <a:latin typeface="Arial"/>
              </a:rPr>
              <a:t>N/2 look-ups on average; N in the worst case.</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Quantum</a:t>
            </a:r>
          </a:p>
          <a:p>
            <a:pPr algn="l">
              <a:spcAft>
                <a:spcPts val="300"/>
              </a:spcAft>
            </a:pPr>
            <a:r>
              <a:rPr sz="1150" b="0">
                <a:solidFill>
                  <a:srgbClr val="161B26"/>
                </a:solidFill>
                <a:latin typeface="Arial"/>
              </a:rPr>
              <a:t>About (pi/4).sqrt(N) iterations — a QUADRATIC speedup.</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Two parts</a:t>
            </a:r>
          </a:p>
          <a:p>
            <a:pPr algn="l">
              <a:spcAft>
                <a:spcPts val="300"/>
              </a:spcAft>
            </a:pPr>
            <a:r>
              <a:rPr sz="1150" b="0">
                <a:solidFill>
                  <a:srgbClr val="161B26"/>
                </a:solidFill>
                <a:latin typeface="Arial"/>
              </a:rPr>
              <a:t>An ORACLE that phase-flips the target, then a DIFFUSION operator that inverts about the mean.</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AMPLITUDE AMPLIFICATION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Algorithm — The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Apply H to every qubit for a uniform superposition</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ORACLE: phase-flip the marked state (e.g. CZ marks |11&gt;)</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DIFFUSION: H, X, CZ, X, H — invert about the mean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Repeat the oracle + diffusion about sqrt(N) times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Measure — the marked item appears with high probability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TO REMEMBER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 — Practical Points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Iteration count matters</a:t>
            </a:r>
          </a:p>
          <a:p>
            <a:pPr algn="l">
              <a:spcAft>
                <a:spcPts val="300"/>
              </a:spcAft>
            </a:pPr>
            <a:r>
              <a:rPr sz="1100" b="0">
                <a:solidFill>
                  <a:srgbClr val="5B6372"/>
                </a:solidFill>
                <a:latin typeface="Arial"/>
              </a:rPr>
              <a:t>Use about (pi/4).sqrt(N). For N = 4 that is exactly ONE iteration, giving 100%.</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Over-rotation hurts</a:t>
            </a:r>
          </a:p>
          <a:p>
            <a:pPr algn="l">
              <a:spcAft>
                <a:spcPts val="300"/>
              </a:spcAft>
            </a:pPr>
            <a:r>
              <a:rPr sz="1100" b="0">
                <a:solidFill>
                  <a:srgbClr val="5B6372"/>
                </a:solidFill>
                <a:latin typeface="Arial"/>
              </a:rPr>
              <a:t>Run too many iterations and the amplitude rotates PAST the target and back down.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Quadratic, not exponential</a:t>
            </a:r>
          </a:p>
          <a:p>
            <a:pPr algn="l">
              <a:spcAft>
                <a:spcPts val="300"/>
              </a:spcAft>
            </a:pPr>
            <a:r>
              <a:rPr sz="1100" b="0">
                <a:solidFill>
                  <a:srgbClr val="5B6372"/>
                </a:solidFill>
                <a:latin typeface="Arial"/>
              </a:rPr>
              <a:t>Grover is a square-root speedup — real, but far weaker than Shor's exponential one.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It is provably optimal</a:t>
            </a:r>
          </a:p>
          <a:p>
            <a:pPr algn="l">
              <a:spcAft>
                <a:spcPts val="300"/>
              </a:spcAft>
            </a:pPr>
            <a:r>
              <a:rPr sz="1100" b="0">
                <a:solidFill>
                  <a:srgbClr val="5B6372"/>
                </a:solidFill>
                <a:latin typeface="Arial"/>
              </a:rPr>
              <a:t>No quantum algorithm can search an unstructured space faster than sqrt(N).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Oracle construction</a:t>
            </a:r>
          </a:p>
          <a:p>
            <a:pPr algn="l">
              <a:spcAft>
                <a:spcPts val="300"/>
              </a:spcAft>
            </a:pPr>
            <a:r>
              <a:rPr sz="1100" b="0">
                <a:solidFill>
                  <a:srgbClr val="5B6372"/>
                </a:solidFill>
                <a:latin typeface="Arial"/>
              </a:rPr>
              <a:t>Mark |01&gt; by putting X gates around the CZ on the qubits that should be 0.</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Impact on crypto</a:t>
            </a:r>
          </a:p>
          <a:p>
            <a:pPr algn="l">
              <a:spcAft>
                <a:spcPts val="300"/>
              </a:spcAft>
            </a:pPr>
            <a:r>
              <a:rPr sz="1100" b="0">
                <a:solidFill>
                  <a:srgbClr val="5B6372"/>
                </a:solidFill>
                <a:latin typeface="Arial"/>
              </a:rPr>
              <a:t>Grover halves effective symmetric key strength — AES-128 falls to about 64 bits, so use AES-256.</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BASIS OF SHOR'S ALGORITHM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Fourier Transform — A Look Ahead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What it is</a:t>
            </a:r>
          </a:p>
          <a:p>
            <a:pPr algn="l">
              <a:spcAft>
                <a:spcPts val="300"/>
              </a:spcAft>
            </a:pPr>
            <a:r>
              <a:rPr sz="1100" b="0">
                <a:solidFill>
                  <a:srgbClr val="5B6372"/>
                </a:solidFill>
                <a:latin typeface="Arial"/>
              </a:rPr>
              <a:t>The quantum analogue of the discrete Fourier transform, acting on amplitudes.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cost</a:t>
            </a:r>
          </a:p>
          <a:p>
            <a:pPr algn="l">
              <a:spcAft>
                <a:spcPts val="300"/>
              </a:spcAft>
            </a:pPr>
            <a:r>
              <a:rPr sz="1100" b="0">
                <a:solidFill>
                  <a:srgbClr val="5B6372"/>
                </a:solidFill>
                <a:latin typeface="Arial"/>
              </a:rPr>
              <a:t>O(n^2) gates for 2^n amplitudes, versus O(n.2^n) for the classical FFT — exponentially fewer.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circuit</a:t>
            </a:r>
          </a:p>
          <a:p>
            <a:pPr algn="l">
              <a:spcAft>
                <a:spcPts val="300"/>
              </a:spcAft>
            </a:pPr>
            <a:r>
              <a:rPr sz="1100" b="0">
                <a:solidFill>
                  <a:srgbClr val="5B6372"/>
                </a:solidFill>
                <a:latin typeface="Arial"/>
              </a:rPr>
              <a:t>Hadamards interleaved with controlled-phase rotations, then a final reversal of qubit order.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Where it is used</a:t>
            </a:r>
          </a:p>
          <a:p>
            <a:pPr algn="l">
              <a:spcAft>
                <a:spcPts val="300"/>
              </a:spcAft>
            </a:pPr>
            <a:r>
              <a:rPr sz="1100" b="0">
                <a:solidFill>
                  <a:srgbClr val="5B6372"/>
                </a:solidFill>
                <a:latin typeface="Arial"/>
              </a:rPr>
              <a:t>Quantum Phase Estimation, and hence Shor's factoring algorithm and the HHL linear solver.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catch</a:t>
            </a:r>
          </a:p>
          <a:p>
            <a:pPr algn="l">
              <a:spcAft>
                <a:spcPts val="300"/>
              </a:spcAft>
            </a:pPr>
            <a:r>
              <a:rPr sz="1100" b="0">
                <a:solidFill>
                  <a:srgbClr val="5B6372"/>
                </a:solidFill>
                <a:latin typeface="Arial"/>
              </a:rPr>
              <a:t>The output amplitudes are not directly readable — you must design interference to extract the answer.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Why it matters</a:t>
            </a:r>
          </a:p>
          <a:p>
            <a:pPr algn="l">
              <a:spcAft>
                <a:spcPts val="300"/>
              </a:spcAft>
            </a:pPr>
            <a:r>
              <a:rPr sz="1100" b="0">
                <a:solidFill>
                  <a:srgbClr val="5B6372"/>
                </a:solidFill>
                <a:latin typeface="Arial"/>
              </a:rPr>
              <a:t>QFT is the source of the exponential speedups, whereas Grover's is only quadratic.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 ON IBM QUANTUM COMPOSER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8–9</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300" b="0">
                <a:solidFill>
                  <a:srgbClr val="161B26"/>
                </a:solidFill>
                <a:latin typeface="Arial"/>
              </a:rPr>
              <a:t>•  Quantum Teleportation</a:t>
            </a:r>
          </a:p>
          <a:p>
            <a:pPr>
              <a:spcAft>
                <a:spcPts val="900"/>
              </a:spcAft>
            </a:pPr>
            <a:r>
              <a:rPr sz="1300" b="0">
                <a:solidFill>
                  <a:srgbClr val="161B26"/>
                </a:solidFill>
                <a:latin typeface="Arial"/>
              </a:rPr>
              <a:t>•  Superdense Coding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10–11</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300" b="0">
                <a:solidFill>
                  <a:srgbClr val="161B26"/>
                </a:solidFill>
                <a:latin typeface="Arial"/>
              </a:rPr>
              <a:t>•  BB84 Quantum Key Distribution</a:t>
            </a:r>
          </a:p>
          <a:p>
            <a:pPr>
              <a:spcAft>
                <a:spcPts val="900"/>
              </a:spcAft>
            </a:pPr>
            <a:r>
              <a:rPr sz="1300" b="0">
                <a:solidFill>
                  <a:srgbClr val="161B26"/>
                </a:solidFill>
                <a:latin typeface="Arial"/>
              </a:rPr>
              <a:t>•  The Deutsch and Deutsch-Jozsa Algorithms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12–13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300" b="0">
                <a:solidFill>
                  <a:srgbClr val="161B26"/>
                </a:solidFill>
                <a:latin typeface="Arial"/>
              </a:rPr>
              <a:t>•  The Bernstein-Vazirani Algorithm</a:t>
            </a:r>
          </a:p>
          <a:p>
            <a:pPr>
              <a:spcAft>
                <a:spcPts val="900"/>
              </a:spcAft>
            </a:pPr>
            <a:r>
              <a:rPr sz="1300" b="0">
                <a:solidFill>
                  <a:srgbClr val="161B26"/>
                </a:solidFill>
                <a:latin typeface="Arial"/>
              </a:rPr>
              <a:t>•  Grover's Search Algorithm</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Teleportation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Teleport an unknown qubit state from Alice to Bob on IBM Quantum Composer using one shared Bell pair and two classical bits. Build it until you can do it from memory.</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Open a 3-qubit circuit in IBM Quantum Composer</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Prepare the state to be teleported</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Create the shared Bell pair between Alice and Bob: H on…</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a barrier, then perform Alice's Bell measurement…</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Measure q[0] and q[1] into the classical bits</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A 3-qubit teleportation circuit that moves a |+&gt; state from q[0] to q[2] and verifies the transfer.</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8</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Superdense Coding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Run teleportation in reverse: send two classical bits by transmitting one qubit. Encode each of the four messages 00, 01, 10 and 11 on IBM Quantum Composer and confirm Bob decodes each one with certainty.</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Open a 2-qubit circuit</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a barrier</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To send 00, Alice applies nothing (the identity)</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Build the decoder that Bob applies: CNOT(q[0], q[1])…</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Run the 00 circuit for 1024 shots</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Four superdense-coding circuits, one per two-bit message, each decoding deterministically.</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9</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BB84 Quantum Key Distribution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Simulate the BB84 key-exchange protocol on IBM Quantum Composer. Encode bits in randomly chosen bases, measure in randomly chosen bases, sift the key — then introduce an eavesdropper and watch the error rate expose her.</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Understand the encoding: Alice sends bit 0 as |0&gt; or |+&gt;…</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On a 1-qubit circuit, prepare bit 1 in the X basis: X…</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Bob measures in the X basis by applying H before the…</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Now let Bob measure in the WRONG basis: remove his H so…</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Repeat for at least 8 qubits with a random basis choice…</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A sifted BB84 key produced without eavesdropping, and the elevated error rate produced when Eve intercepts.</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10</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Deutsch and Deutsch-Jozsa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Build the first algorithm that beats every classical method. Determine whether a black-box function is constant or balanced using a single query on IBM Quantum Composer, then scale it up to the multi-qubit Deutsch-Jozsa version.</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Open a 2-qubit circuit</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a barrier, then build the BALANCED oracle f(x) = x as…</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a barrier, apply H to q[0], and measure q[0] only</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Run 1024 shots</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Replace the oracle with the CONSTANT function f(x) = 0 —…</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Four Deutsch circuits (both constant and both balanced oracles) and a 3-qubit Deutsch-Jozsa circuit.</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11</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Bernstein-Vazirani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Recover a hidden 4-bit string in a single query instead of four. Build the circuit for the hidden string 0101 (decimal 5) until it is second nature.</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Open a 5-qubit circuit: q[0]-q[3] are the input register…</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Prepare the ancilla in |-&gt;: apply X to q[4], then H to…</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Apply H to every input qubit q[0], q[1], q[2] and q[3] to…</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a barrier, then build the oracle for the hidden…</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a barrier and apply H again to all four input qubits…</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A 5-qubit Bernstein-Vazirani circuit that reads out the hidden string 0101 deterministically.</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12</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Grover's Search Algorithm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13</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Build the best-known quantum search algorithm on IBM Quantum Composer. Mark a target item with an oracle, amplify it with the diffusion operator, and find it in O(sqrt(N)) steps.</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Open a 2-qubit circuit with 2 classical bits</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a barrier, then build the ORACLE that marks |11&gt; with…</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a barrier, then build the DIFFUSION operator…</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Measure both qubits and run 1024 shots</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Change the marked item to |01&gt;: put an X on q[0] before…</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A 2-qubit Grover circuit that finds the marked item with near-certainty, plus a 3-qubit version.</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13</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03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Algorithms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No-cloning forbids copying an unknown state — the basis of QKD security.</a:t>
            </a:r>
          </a:p>
          <a:p>
            <a:pPr>
              <a:spcAft>
                <a:spcPts val="1000"/>
              </a:spcAft>
            </a:pPr>
            <a:r>
              <a:rPr sz="1700" b="0">
                <a:solidFill>
                  <a:srgbClr val="161B26"/>
                </a:solidFill>
                <a:latin typeface="Arial"/>
              </a:rPr>
              <a:t>•  Teleportation moves a qubit with one Bell pair and two classical bits; superdense coding is the mirror image.</a:t>
            </a:r>
          </a:p>
          <a:p>
            <a:pPr>
              <a:spcAft>
                <a:spcPts val="1000"/>
              </a:spcAft>
            </a:pPr>
            <a:r>
              <a:rPr sz="1700" b="0">
                <a:solidFill>
                  <a:srgbClr val="161B26"/>
                </a:solidFill>
                <a:latin typeface="Arial"/>
              </a:rPr>
              <a:t>•  BB84 exchanges a provably secure key; an eavesdropper shows up as roughly 25% errors in the sifted key.</a:t>
            </a:r>
          </a:p>
          <a:p>
            <a:pPr>
              <a:spcAft>
                <a:spcPts val="1000"/>
              </a:spcAft>
            </a:pPr>
            <a:r>
              <a:rPr sz="1700" b="0">
                <a:solidFill>
                  <a:srgbClr val="161B26"/>
                </a:solidFill>
                <a:latin typeface="Arial"/>
              </a:rPr>
              <a:t>•  Deutsch, Deutsch-Jozsa and Bernstein-Vazirani all beat classical query counts using phase kickback.</a:t>
            </a:r>
          </a:p>
          <a:p>
            <a:pPr>
              <a:spcAft>
                <a:spcPts val="1000"/>
              </a:spcAft>
            </a:pPr>
            <a:r>
              <a:rPr sz="1700" b="0">
                <a:solidFill>
                  <a:srgbClr val="161B26"/>
                </a:solidFill>
                <a:latin typeface="Arial"/>
              </a:rPr>
              <a:t>•  Grover finds a marked item in about sqrt(N) steps — a quadratic, provably optimal speedup.</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Quantum Computing Applications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Introduction to Quantum Error Correction  ·  Introduction to Quantum Machine Learning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THE CENTRAL ENGINEERING PROBLEM</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Why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Qubits are fragile</a:t>
            </a:r>
          </a:p>
          <a:p>
            <a:pPr algn="l">
              <a:spcAft>
                <a:spcPts val="300"/>
              </a:spcAft>
            </a:pPr>
            <a:r>
              <a:rPr sz="1100" b="0">
                <a:solidFill>
                  <a:srgbClr val="5B6372"/>
                </a:solidFill>
                <a:latin typeface="Arial"/>
              </a:rPr>
              <a:t>They decohere in microseconds — heat, vibration and stray fields all destroy the state.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Gates are imperfect</a:t>
            </a:r>
          </a:p>
          <a:p>
            <a:pPr algn="l">
              <a:spcAft>
                <a:spcPts val="300"/>
              </a:spcAft>
            </a:pPr>
            <a:r>
              <a:rPr sz="1100" b="0">
                <a:solidFill>
                  <a:srgbClr val="5B6372"/>
                </a:solidFill>
                <a:latin typeface="Arial"/>
              </a:rPr>
              <a:t>A two-qubit gate error of 1% compounds fast: 100 gates and the answer is noise.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No copying allowed</a:t>
            </a:r>
          </a:p>
          <a:p>
            <a:pPr algn="l">
              <a:spcAft>
                <a:spcPts val="300"/>
              </a:spcAft>
            </a:pPr>
            <a:r>
              <a:rPr sz="1100" b="0">
                <a:solidFill>
                  <a:srgbClr val="5B6372"/>
                </a:solidFill>
                <a:latin typeface="Arial"/>
              </a:rPr>
              <a:t>No-cloning forbids the classical trick of simply keeping three backup copies.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No peeking allowed</a:t>
            </a:r>
          </a:p>
          <a:p>
            <a:pPr algn="l">
              <a:spcAft>
                <a:spcPts val="300"/>
              </a:spcAft>
            </a:pPr>
            <a:r>
              <a:rPr sz="1100" b="0">
                <a:solidFill>
                  <a:srgbClr val="5B6372"/>
                </a:solidFill>
                <a:latin typeface="Arial"/>
              </a:rPr>
              <a:t>Measuring the data qubit to check it would COLLAPSE the superposition you are protecting.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solution</a:t>
            </a:r>
          </a:p>
          <a:p>
            <a:pPr algn="l">
              <a:spcAft>
                <a:spcPts val="300"/>
              </a:spcAft>
            </a:pPr>
            <a:r>
              <a:rPr sz="1100" b="0">
                <a:solidFill>
                  <a:srgbClr val="5B6372"/>
                </a:solidFill>
                <a:latin typeface="Arial"/>
              </a:rPr>
              <a:t>Encode one LOGICAL qubit across many PHYSICAL qubits, and measure only the PARITY.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prize</a:t>
            </a:r>
          </a:p>
          <a:p>
            <a:pPr algn="l">
              <a:spcAft>
                <a:spcPts val="300"/>
              </a:spcAft>
            </a:pPr>
            <a:r>
              <a:rPr sz="1100" b="0">
                <a:solidFill>
                  <a:srgbClr val="5B6372"/>
                </a:solidFill>
                <a:latin typeface="Arial"/>
              </a:rPr>
              <a:t>Below the error threshold, more qubits make the logical error rate arbitrarily small.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SAME IDEA, HARDER CONSTRAINTS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Classical vs Quantum Error Correction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Bits</a:t>
            </a:r>
          </a:p>
        </p:txBody>
      </p:sp>
      <p:sp>
        <p:nvSpPr>
          <p:cNvPr id="12" name="TextBox 11"/>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Qubits</a:t>
            </a:r>
          </a:p>
        </p:txBody>
      </p:sp>
      <p:sp>
        <p:nvSpPr>
          <p:cNvPr id="13" name="TextBox 12"/>
          <p:cNvSpPr txBox="1"/>
          <p:nvPr/>
        </p:nvSpPr>
        <p:spPr>
          <a:xfrm>
            <a:off x="1005840" y="2514600"/>
            <a:ext cx="4754880" cy="3383280"/>
          </a:xfrm>
          <a:prstGeom prst="rect">
            <a:avLst/>
          </a:prstGeom>
          <a:noFill/>
        </p:spPr>
        <p:txBody>
          <a:bodyPr wrap="square">
            <a:spAutoFit/>
          </a:bodyPr>
          <a:lstStyle/>
          <a:p>
            <a:pPr>
              <a:spcAft>
                <a:spcPts val="1000"/>
              </a:spcAft>
            </a:pPr>
            <a:r>
              <a:rPr sz="1500" b="0">
                <a:solidFill>
                  <a:srgbClr val="161B26"/>
                </a:solidFill>
                <a:latin typeface="Arial"/>
              </a:rPr>
              <a:t>•  Classical repetition code</a:t>
            </a:r>
          </a:p>
          <a:p>
            <a:pPr>
              <a:spcAft>
                <a:spcPts val="1000"/>
              </a:spcAft>
            </a:pPr>
            <a:r>
              <a:rPr sz="1300" b="0">
                <a:solidFill>
                  <a:srgbClr val="5B6372"/>
                </a:solidFill>
                <a:latin typeface="Arial"/>
              </a:rPr>
              <a:t>–  Copy the bit three times: 0 becomes 000</a:t>
            </a:r>
          </a:p>
          <a:p>
            <a:pPr>
              <a:spcAft>
                <a:spcPts val="1000"/>
              </a:spcAft>
            </a:pPr>
            <a:r>
              <a:rPr sz="1300" b="0">
                <a:solidFill>
                  <a:srgbClr val="5B6372"/>
                </a:solidFill>
                <a:latin typeface="Arial"/>
              </a:rPr>
              <a:t>–  A flip gives 010 — take the majority vote</a:t>
            </a:r>
          </a:p>
          <a:p>
            <a:pPr>
              <a:spcAft>
                <a:spcPts val="1000"/>
              </a:spcAft>
            </a:pPr>
            <a:r>
              <a:rPr sz="1300" b="0">
                <a:solidFill>
                  <a:srgbClr val="5B6372"/>
                </a:solidFill>
                <a:latin typeface="Arial"/>
              </a:rPr>
              <a:t>–  You may freely read and copy bits</a:t>
            </a:r>
          </a:p>
          <a:p>
            <a:pPr>
              <a:spcAft>
                <a:spcPts val="1000"/>
              </a:spcAft>
            </a:pPr>
            <a:r>
              <a:rPr sz="1300" b="0">
                <a:solidFill>
                  <a:srgbClr val="5B6372"/>
                </a:solidFill>
                <a:latin typeface="Arial"/>
              </a:rPr>
              <a:t>–  Only ONE error type exists: the bit flip</a:t>
            </a:r>
          </a:p>
        </p:txBody>
      </p:sp>
      <p:sp>
        <p:nvSpPr>
          <p:cNvPr id="14" name="TextBox 13"/>
          <p:cNvSpPr txBox="1"/>
          <p:nvPr/>
        </p:nvSpPr>
        <p:spPr>
          <a:xfrm>
            <a:off x="6583680" y="2514600"/>
            <a:ext cx="4617720" cy="3383280"/>
          </a:xfrm>
          <a:prstGeom prst="rect">
            <a:avLst/>
          </a:prstGeom>
          <a:noFill/>
        </p:spPr>
        <p:txBody>
          <a:bodyPr wrap="square">
            <a:spAutoFit/>
          </a:bodyPr>
          <a:lstStyle/>
          <a:p>
            <a:pPr>
              <a:spcAft>
                <a:spcPts val="1000"/>
              </a:spcAft>
            </a:pPr>
            <a:r>
              <a:rPr sz="1500" b="0">
                <a:solidFill>
                  <a:srgbClr val="161B26"/>
                </a:solidFill>
                <a:latin typeface="Arial"/>
              </a:rPr>
              <a:t>•  Quantum error correction</a:t>
            </a:r>
          </a:p>
          <a:p>
            <a:pPr>
              <a:spcAft>
                <a:spcPts val="1000"/>
              </a:spcAft>
            </a:pPr>
            <a:r>
              <a:rPr sz="1300" b="0">
                <a:solidFill>
                  <a:srgbClr val="5B6372"/>
                </a:solidFill>
                <a:latin typeface="Arial"/>
              </a:rPr>
              <a:t>–  Entangle into 3 qubits — you cannot copy</a:t>
            </a:r>
          </a:p>
          <a:p>
            <a:pPr>
              <a:spcAft>
                <a:spcPts val="1000"/>
              </a:spcAft>
            </a:pPr>
            <a:r>
              <a:rPr sz="1300" b="0">
                <a:solidFill>
                  <a:srgbClr val="5B6372"/>
                </a:solidFill>
                <a:latin typeface="Arial"/>
              </a:rPr>
              <a:t>–  Measure PARITY via ancillas, never the data</a:t>
            </a:r>
          </a:p>
          <a:p>
            <a:pPr>
              <a:spcAft>
                <a:spcPts val="1000"/>
              </a:spcAft>
            </a:pPr>
            <a:r>
              <a:rPr sz="1300" b="0">
                <a:solidFill>
                  <a:srgbClr val="5B6372"/>
                </a:solidFill>
                <a:latin typeface="Arial"/>
              </a:rPr>
              <a:t>–  Reading the data would collapse it</a:t>
            </a:r>
          </a:p>
          <a:p>
            <a:pPr>
              <a:spcAft>
                <a:spcPts val="1000"/>
              </a:spcAft>
            </a:pPr>
            <a:r>
              <a:rPr sz="1300" b="0">
                <a:solidFill>
                  <a:srgbClr val="5B6372"/>
                </a:solidFill>
                <a:latin typeface="Arial"/>
              </a:rPr>
              <a:t>–  TWO error types: bit flip (X) and phase flip (Z)</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CORRECTING AN X ERROR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3-Qubit Bit-Flip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it-flip-code.png"/>
          <p:cNvPicPr>
            <a:picLocks noChangeAspect="1"/>
          </p:cNvPicPr>
          <p:nvPr/>
        </p:nvPicPr>
        <p:blipFill>
          <a:blip r:embed="rId2"/>
          <a:stretch>
            <a:fillRect/>
          </a:stretch>
        </p:blipFill>
        <p:spPr>
          <a:xfrm>
            <a:off x="777240" y="2313138"/>
            <a:ext cx="6309360" cy="3329002"/>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Syndrome 00 = no error, 10 = q0, 11 = q1, 01 = q2.</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Encode</a:t>
            </a:r>
          </a:p>
          <a:p>
            <a:pPr algn="l">
              <a:spcAft>
                <a:spcPts val="300"/>
              </a:spcAft>
            </a:pPr>
            <a:r>
              <a:rPr sz="1150" b="0">
                <a:solidFill>
                  <a:srgbClr val="161B26"/>
                </a:solidFill>
                <a:latin typeface="Arial"/>
              </a:rPr>
              <a:t>Two CNOTs spread |psi&gt; across three qubits: logical |0&gt; = |000&gt;, logical |1&gt; = |111&gt;.</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Error</a:t>
            </a:r>
          </a:p>
          <a:p>
            <a:pPr algn="l">
              <a:spcAft>
                <a:spcPts val="300"/>
              </a:spcAft>
            </a:pPr>
            <a:r>
              <a:rPr sz="1150" b="0">
                <a:solidFill>
                  <a:srgbClr val="161B26"/>
                </a:solidFill>
                <a:latin typeface="Arial"/>
              </a:rPr>
              <a:t>A stray X flips one qubit — say the middle one, giving |010&gt;.</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Syndrome</a:t>
            </a:r>
          </a:p>
          <a:p>
            <a:pPr algn="l">
              <a:spcAft>
                <a:spcPts val="300"/>
              </a:spcAft>
            </a:pPr>
            <a:r>
              <a:rPr sz="1150" b="0">
                <a:solidFill>
                  <a:srgbClr val="161B26"/>
                </a:solidFill>
                <a:latin typeface="Arial"/>
              </a:rPr>
              <a:t>Two ancillas measure the parities Z0Z1 and Z1Z2 — revealing WHERE, never WHAT.</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Correct</a:t>
            </a:r>
          </a:p>
          <a:p>
            <a:pPr algn="l">
              <a:spcAft>
                <a:spcPts val="300"/>
              </a:spcAft>
            </a:pPr>
            <a:r>
              <a:rPr sz="1150" b="0">
                <a:solidFill>
                  <a:srgbClr val="161B26"/>
                </a:solidFill>
                <a:latin typeface="Arial"/>
              </a:rPr>
              <a:t>Syndrome 11 means qubit 1 flipped; apply X to qubit 1 and the logical state is restored.</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CORRECTING A Z ERROR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3-Qubit Phase-Flip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hase-flip-code.png"/>
          <p:cNvPicPr>
            <a:picLocks noChangeAspect="1"/>
          </p:cNvPicPr>
          <p:nvPr/>
        </p:nvPicPr>
        <p:blipFill>
          <a:blip r:embed="rId2"/>
          <a:stretch>
            <a:fillRect/>
          </a:stretch>
        </p:blipFill>
        <p:spPr>
          <a:xfrm>
            <a:off x="777240" y="2377806"/>
            <a:ext cx="6309360" cy="3199666"/>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Every quantum error is a combination of X and Z — correct both and you correct all.</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The blind spot</a:t>
            </a:r>
          </a:p>
          <a:p>
            <a:pPr algn="l">
              <a:spcAft>
                <a:spcPts val="300"/>
              </a:spcAft>
            </a:pPr>
            <a:r>
              <a:rPr sz="1150" b="0">
                <a:solidFill>
                  <a:srgbClr val="161B26"/>
                </a:solidFill>
                <a:latin typeface="Arial"/>
              </a:rPr>
              <a:t>A Z error is completely INVISIBLE to the bit-flip code — the syndrome reads 00.</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The trick</a:t>
            </a:r>
          </a:p>
          <a:p>
            <a:pPr algn="l">
              <a:spcAft>
                <a:spcPts val="300"/>
              </a:spcAft>
            </a:pPr>
            <a:r>
              <a:rPr sz="1150" b="0">
                <a:solidFill>
                  <a:srgbClr val="161B26"/>
                </a:solidFill>
                <a:latin typeface="Arial"/>
              </a:rPr>
              <a:t>H Z H = X. Conjugating by Hadamards turns a phase flip into a bit flip.</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The code</a:t>
            </a:r>
          </a:p>
          <a:p>
            <a:pPr algn="l">
              <a:spcAft>
                <a:spcPts val="300"/>
              </a:spcAft>
            </a:pPr>
            <a:r>
              <a:rPr sz="1150" b="0">
                <a:solidFill>
                  <a:srgbClr val="161B26"/>
                </a:solidFill>
                <a:latin typeface="Arial"/>
              </a:rPr>
              <a:t>Encode as before, then apply H to all three qubits — logical states become |+++&gt; and |---&gt;.</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Then reuse</a:t>
            </a:r>
          </a:p>
          <a:p>
            <a:pPr algn="l">
              <a:spcAft>
                <a:spcPts val="300"/>
              </a:spcAft>
            </a:pPr>
            <a:r>
              <a:rPr sz="1150" b="0">
                <a:solidFill>
                  <a:srgbClr val="161B26"/>
                </a:solidFill>
                <a:latin typeface="Arial"/>
              </a:rPr>
              <a:t>Sandwich the bit-flip machinery between Hadamard layers and the same syndrome works.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FROM TOY CODES TO FAULT TOLERANCE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Error-Correcting Codes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2126894"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874519"/>
            <a:ext cx="1944014" cy="475488"/>
          </a:xfrm>
          <a:prstGeom prst="rect">
            <a:avLst/>
          </a:prstGeom>
          <a:noFill/>
        </p:spPr>
        <p:txBody>
          <a:bodyPr wrap="square" anchor="ctr">
            <a:spAutoFit/>
          </a:bodyPr>
          <a:lstStyle/>
          <a:p>
            <a:pPr algn="l">
              <a:spcAft>
                <a:spcPts val="400"/>
              </a:spcAft>
            </a:pPr>
            <a:r>
              <a:rPr sz="1250" b="1">
                <a:solidFill>
                  <a:srgbClr val="FFFFFF"/>
                </a:solidFill>
                <a:latin typeface="Arial"/>
              </a:rPr>
              <a:t>Code</a:t>
            </a:r>
          </a:p>
        </p:txBody>
      </p:sp>
      <p:sp>
        <p:nvSpPr>
          <p:cNvPr id="9" name="Rectangle 8"/>
          <p:cNvSpPr/>
          <p:nvPr/>
        </p:nvSpPr>
        <p:spPr>
          <a:xfrm>
            <a:off x="2904134" y="1874519"/>
            <a:ext cx="2020549"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32150" y="1874519"/>
            <a:ext cx="1837669" cy="475488"/>
          </a:xfrm>
          <a:prstGeom prst="rect">
            <a:avLst/>
          </a:prstGeom>
          <a:noFill/>
        </p:spPr>
        <p:txBody>
          <a:bodyPr wrap="square" anchor="ctr">
            <a:spAutoFit/>
          </a:bodyPr>
          <a:lstStyle/>
          <a:p>
            <a:pPr algn="l">
              <a:spcAft>
                <a:spcPts val="400"/>
              </a:spcAft>
            </a:pPr>
            <a:r>
              <a:rPr sz="1250" b="1">
                <a:solidFill>
                  <a:srgbClr val="FFFFFF"/>
                </a:solidFill>
                <a:latin typeface="Arial"/>
              </a:rPr>
              <a:t>Physical qubits</a:t>
            </a:r>
          </a:p>
        </p:txBody>
      </p:sp>
      <p:sp>
        <p:nvSpPr>
          <p:cNvPr id="11" name="Rectangle 10"/>
          <p:cNvSpPr/>
          <p:nvPr/>
        </p:nvSpPr>
        <p:spPr>
          <a:xfrm>
            <a:off x="4924684" y="1874519"/>
            <a:ext cx="2552273"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52700" y="1874519"/>
            <a:ext cx="2369393" cy="475488"/>
          </a:xfrm>
          <a:prstGeom prst="rect">
            <a:avLst/>
          </a:prstGeom>
          <a:noFill/>
        </p:spPr>
        <p:txBody>
          <a:bodyPr wrap="square" anchor="ctr">
            <a:spAutoFit/>
          </a:bodyPr>
          <a:lstStyle/>
          <a:p>
            <a:pPr algn="l">
              <a:spcAft>
                <a:spcPts val="400"/>
              </a:spcAft>
            </a:pPr>
            <a:r>
              <a:rPr sz="1250" b="1">
                <a:solidFill>
                  <a:srgbClr val="FFFFFF"/>
                </a:solidFill>
                <a:latin typeface="Arial"/>
              </a:rPr>
              <a:t>Corrects</a:t>
            </a:r>
          </a:p>
        </p:txBody>
      </p:sp>
      <p:sp>
        <p:nvSpPr>
          <p:cNvPr id="13" name="Rectangle 12"/>
          <p:cNvSpPr/>
          <p:nvPr/>
        </p:nvSpPr>
        <p:spPr>
          <a:xfrm>
            <a:off x="7476957" y="1874519"/>
            <a:ext cx="3934754"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04973" y="1874519"/>
            <a:ext cx="3751874" cy="475488"/>
          </a:xfrm>
          <a:prstGeom prst="rect">
            <a:avLst/>
          </a:prstGeom>
          <a:noFill/>
        </p:spPr>
        <p:txBody>
          <a:bodyPr wrap="square" anchor="ctr">
            <a:spAutoFit/>
          </a:bodyPr>
          <a:lstStyle/>
          <a:p>
            <a:pPr algn="l">
              <a:spcAft>
                <a:spcPts val="400"/>
              </a:spcAft>
            </a:pPr>
            <a:r>
              <a:rPr sz="1250" b="1">
                <a:solidFill>
                  <a:srgbClr val="FFFFFF"/>
                </a:solidFill>
                <a:latin typeface="Arial"/>
              </a:rPr>
              <a:t>Notes</a:t>
            </a:r>
          </a:p>
        </p:txBody>
      </p:sp>
      <p:sp>
        <p:nvSpPr>
          <p:cNvPr id="15" name="Rectangle 14"/>
          <p:cNvSpPr/>
          <p:nvPr/>
        </p:nvSpPr>
        <p:spPr>
          <a:xfrm>
            <a:off x="777240" y="2350007"/>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350007"/>
            <a:ext cx="1944014" cy="475488"/>
          </a:xfrm>
          <a:prstGeom prst="rect">
            <a:avLst/>
          </a:prstGeom>
          <a:noFill/>
        </p:spPr>
        <p:txBody>
          <a:bodyPr wrap="square" anchor="ctr">
            <a:spAutoFit/>
          </a:bodyPr>
          <a:lstStyle/>
          <a:p>
            <a:pPr algn="l">
              <a:spcAft>
                <a:spcPts val="400"/>
              </a:spcAft>
            </a:pPr>
            <a:r>
              <a:rPr sz="1150" b="1">
                <a:solidFill>
                  <a:srgbClr val="161B26"/>
                </a:solidFill>
                <a:latin typeface="Arial"/>
              </a:rPr>
              <a:t>Bit-flip code</a:t>
            </a:r>
          </a:p>
        </p:txBody>
      </p:sp>
      <p:sp>
        <p:nvSpPr>
          <p:cNvPr id="17" name="Rectangle 16"/>
          <p:cNvSpPr/>
          <p:nvPr/>
        </p:nvSpPr>
        <p:spPr>
          <a:xfrm>
            <a:off x="2904134" y="2350007"/>
            <a:ext cx="202054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32150" y="2350007"/>
            <a:ext cx="1837669" cy="475488"/>
          </a:xfrm>
          <a:prstGeom prst="rect">
            <a:avLst/>
          </a:prstGeom>
          <a:noFill/>
        </p:spPr>
        <p:txBody>
          <a:bodyPr wrap="square" anchor="ctr">
            <a:spAutoFit/>
          </a:bodyPr>
          <a:lstStyle/>
          <a:p>
            <a:pPr algn="l">
              <a:spcAft>
                <a:spcPts val="400"/>
              </a:spcAft>
            </a:pPr>
            <a:r>
              <a:rPr sz="1150" b="0">
                <a:solidFill>
                  <a:srgbClr val="161B26"/>
                </a:solidFill>
                <a:latin typeface="Arial"/>
              </a:rPr>
              <a:t>3</a:t>
            </a:r>
          </a:p>
        </p:txBody>
      </p:sp>
      <p:sp>
        <p:nvSpPr>
          <p:cNvPr id="19" name="Rectangle 18"/>
          <p:cNvSpPr/>
          <p:nvPr/>
        </p:nvSpPr>
        <p:spPr>
          <a:xfrm>
            <a:off x="4924684" y="2350007"/>
            <a:ext cx="255227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52700" y="2350007"/>
            <a:ext cx="2369393" cy="475488"/>
          </a:xfrm>
          <a:prstGeom prst="rect">
            <a:avLst/>
          </a:prstGeom>
          <a:noFill/>
        </p:spPr>
        <p:txBody>
          <a:bodyPr wrap="square" anchor="ctr">
            <a:spAutoFit/>
          </a:bodyPr>
          <a:lstStyle/>
          <a:p>
            <a:pPr algn="l">
              <a:spcAft>
                <a:spcPts val="400"/>
              </a:spcAft>
            </a:pPr>
            <a:r>
              <a:rPr sz="1150" b="0">
                <a:solidFill>
                  <a:srgbClr val="161B26"/>
                </a:solidFill>
                <a:latin typeface="Arial"/>
              </a:rPr>
              <a:t>One X error</a:t>
            </a:r>
          </a:p>
        </p:txBody>
      </p:sp>
      <p:sp>
        <p:nvSpPr>
          <p:cNvPr id="21" name="Rectangle 20"/>
          <p:cNvSpPr/>
          <p:nvPr/>
        </p:nvSpPr>
        <p:spPr>
          <a:xfrm>
            <a:off x="7476957" y="2350007"/>
            <a:ext cx="393475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604973" y="2350007"/>
            <a:ext cx="3751874" cy="475488"/>
          </a:xfrm>
          <a:prstGeom prst="rect">
            <a:avLst/>
          </a:prstGeom>
          <a:noFill/>
        </p:spPr>
        <p:txBody>
          <a:bodyPr wrap="square" anchor="ctr">
            <a:spAutoFit/>
          </a:bodyPr>
          <a:lstStyle/>
          <a:p>
            <a:pPr algn="l">
              <a:spcAft>
                <a:spcPts val="400"/>
              </a:spcAft>
            </a:pPr>
            <a:r>
              <a:rPr sz="1150" b="0">
                <a:solidFill>
                  <a:srgbClr val="161B26"/>
                </a:solidFill>
                <a:latin typeface="Arial"/>
              </a:rPr>
              <a:t>Teaching code; blind to phase errors</a:t>
            </a:r>
          </a:p>
        </p:txBody>
      </p:sp>
      <p:sp>
        <p:nvSpPr>
          <p:cNvPr id="23" name="Rectangle 22"/>
          <p:cNvSpPr/>
          <p:nvPr/>
        </p:nvSpPr>
        <p:spPr>
          <a:xfrm>
            <a:off x="777240" y="2825495"/>
            <a:ext cx="212689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25495"/>
            <a:ext cx="1944014" cy="475488"/>
          </a:xfrm>
          <a:prstGeom prst="rect">
            <a:avLst/>
          </a:prstGeom>
          <a:noFill/>
        </p:spPr>
        <p:txBody>
          <a:bodyPr wrap="square" anchor="ctr">
            <a:spAutoFit/>
          </a:bodyPr>
          <a:lstStyle/>
          <a:p>
            <a:pPr algn="l">
              <a:spcAft>
                <a:spcPts val="400"/>
              </a:spcAft>
            </a:pPr>
            <a:r>
              <a:rPr sz="1150" b="1">
                <a:solidFill>
                  <a:srgbClr val="161B26"/>
                </a:solidFill>
                <a:latin typeface="Arial"/>
              </a:rPr>
              <a:t>Phase-flip code</a:t>
            </a:r>
          </a:p>
        </p:txBody>
      </p:sp>
      <p:sp>
        <p:nvSpPr>
          <p:cNvPr id="25" name="Rectangle 24"/>
          <p:cNvSpPr/>
          <p:nvPr/>
        </p:nvSpPr>
        <p:spPr>
          <a:xfrm>
            <a:off x="2904134" y="2825495"/>
            <a:ext cx="202054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32150" y="2825495"/>
            <a:ext cx="1837669" cy="475488"/>
          </a:xfrm>
          <a:prstGeom prst="rect">
            <a:avLst/>
          </a:prstGeom>
          <a:noFill/>
        </p:spPr>
        <p:txBody>
          <a:bodyPr wrap="square" anchor="ctr">
            <a:spAutoFit/>
          </a:bodyPr>
          <a:lstStyle/>
          <a:p>
            <a:pPr algn="l">
              <a:spcAft>
                <a:spcPts val="400"/>
              </a:spcAft>
            </a:pPr>
            <a:r>
              <a:rPr sz="1150" b="0">
                <a:solidFill>
                  <a:srgbClr val="161B26"/>
                </a:solidFill>
                <a:latin typeface="Arial"/>
              </a:rPr>
              <a:t>3</a:t>
            </a:r>
          </a:p>
        </p:txBody>
      </p:sp>
      <p:sp>
        <p:nvSpPr>
          <p:cNvPr id="27" name="Rectangle 26"/>
          <p:cNvSpPr/>
          <p:nvPr/>
        </p:nvSpPr>
        <p:spPr>
          <a:xfrm>
            <a:off x="4924684" y="2825495"/>
            <a:ext cx="2552273"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52700" y="2825495"/>
            <a:ext cx="2369393" cy="475488"/>
          </a:xfrm>
          <a:prstGeom prst="rect">
            <a:avLst/>
          </a:prstGeom>
          <a:noFill/>
        </p:spPr>
        <p:txBody>
          <a:bodyPr wrap="square" anchor="ctr">
            <a:spAutoFit/>
          </a:bodyPr>
          <a:lstStyle/>
          <a:p>
            <a:pPr algn="l">
              <a:spcAft>
                <a:spcPts val="400"/>
              </a:spcAft>
            </a:pPr>
            <a:r>
              <a:rPr sz="1150" b="0">
                <a:solidFill>
                  <a:srgbClr val="161B26"/>
                </a:solidFill>
                <a:latin typeface="Arial"/>
              </a:rPr>
              <a:t>One Z error</a:t>
            </a:r>
          </a:p>
        </p:txBody>
      </p:sp>
      <p:sp>
        <p:nvSpPr>
          <p:cNvPr id="29" name="Rectangle 28"/>
          <p:cNvSpPr/>
          <p:nvPr/>
        </p:nvSpPr>
        <p:spPr>
          <a:xfrm>
            <a:off x="7476957" y="2825495"/>
            <a:ext cx="393475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2825495"/>
            <a:ext cx="3751874" cy="475488"/>
          </a:xfrm>
          <a:prstGeom prst="rect">
            <a:avLst/>
          </a:prstGeom>
          <a:noFill/>
        </p:spPr>
        <p:txBody>
          <a:bodyPr wrap="square" anchor="ctr">
            <a:spAutoFit/>
          </a:bodyPr>
          <a:lstStyle/>
          <a:p>
            <a:pPr algn="l">
              <a:spcAft>
                <a:spcPts val="400"/>
              </a:spcAft>
            </a:pPr>
            <a:r>
              <a:rPr sz="1150" b="0">
                <a:solidFill>
                  <a:srgbClr val="161B26"/>
                </a:solidFill>
                <a:latin typeface="Arial"/>
              </a:rPr>
              <a:t>The bit-flip code conjugated by Hadamards</a:t>
            </a:r>
          </a:p>
        </p:txBody>
      </p:sp>
      <p:sp>
        <p:nvSpPr>
          <p:cNvPr id="31" name="Rectangle 30"/>
          <p:cNvSpPr/>
          <p:nvPr/>
        </p:nvSpPr>
        <p:spPr>
          <a:xfrm>
            <a:off x="777240" y="3300983"/>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300983"/>
            <a:ext cx="1944014" cy="475488"/>
          </a:xfrm>
          <a:prstGeom prst="rect">
            <a:avLst/>
          </a:prstGeom>
          <a:noFill/>
        </p:spPr>
        <p:txBody>
          <a:bodyPr wrap="square" anchor="ctr">
            <a:spAutoFit/>
          </a:bodyPr>
          <a:lstStyle/>
          <a:p>
            <a:pPr algn="l">
              <a:spcAft>
                <a:spcPts val="400"/>
              </a:spcAft>
            </a:pPr>
            <a:r>
              <a:rPr sz="1150" b="1">
                <a:solidFill>
                  <a:srgbClr val="161B26"/>
                </a:solidFill>
                <a:latin typeface="Arial"/>
              </a:rPr>
              <a:t>Shor code</a:t>
            </a:r>
          </a:p>
        </p:txBody>
      </p:sp>
      <p:sp>
        <p:nvSpPr>
          <p:cNvPr id="33" name="Rectangle 32"/>
          <p:cNvSpPr/>
          <p:nvPr/>
        </p:nvSpPr>
        <p:spPr>
          <a:xfrm>
            <a:off x="2904134" y="3300983"/>
            <a:ext cx="202054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032150" y="3300983"/>
            <a:ext cx="1837669" cy="475488"/>
          </a:xfrm>
          <a:prstGeom prst="rect">
            <a:avLst/>
          </a:prstGeom>
          <a:noFill/>
        </p:spPr>
        <p:txBody>
          <a:bodyPr wrap="square" anchor="ctr">
            <a:spAutoFit/>
          </a:bodyPr>
          <a:lstStyle/>
          <a:p>
            <a:pPr algn="l">
              <a:spcAft>
                <a:spcPts val="400"/>
              </a:spcAft>
            </a:pPr>
            <a:r>
              <a:rPr sz="1150" b="0">
                <a:solidFill>
                  <a:srgbClr val="161B26"/>
                </a:solidFill>
                <a:latin typeface="Arial"/>
              </a:rPr>
              <a:t>9</a:t>
            </a:r>
          </a:p>
        </p:txBody>
      </p:sp>
      <p:sp>
        <p:nvSpPr>
          <p:cNvPr id="35" name="Rectangle 34"/>
          <p:cNvSpPr/>
          <p:nvPr/>
        </p:nvSpPr>
        <p:spPr>
          <a:xfrm>
            <a:off x="4924684" y="3300983"/>
            <a:ext cx="255227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52700" y="3300983"/>
            <a:ext cx="2369393" cy="475488"/>
          </a:xfrm>
          <a:prstGeom prst="rect">
            <a:avLst/>
          </a:prstGeom>
          <a:noFill/>
        </p:spPr>
        <p:txBody>
          <a:bodyPr wrap="square" anchor="ctr">
            <a:spAutoFit/>
          </a:bodyPr>
          <a:lstStyle/>
          <a:p>
            <a:pPr algn="l">
              <a:spcAft>
                <a:spcPts val="400"/>
              </a:spcAft>
            </a:pPr>
            <a:r>
              <a:rPr sz="1150" b="0">
                <a:solidFill>
                  <a:srgbClr val="161B26"/>
                </a:solidFill>
                <a:latin typeface="Arial"/>
              </a:rPr>
              <a:t>ANY single-qubit error</a:t>
            </a:r>
          </a:p>
        </p:txBody>
      </p:sp>
      <p:sp>
        <p:nvSpPr>
          <p:cNvPr id="37" name="Rectangle 36"/>
          <p:cNvSpPr/>
          <p:nvPr/>
        </p:nvSpPr>
        <p:spPr>
          <a:xfrm>
            <a:off x="7476957" y="3300983"/>
            <a:ext cx="393475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04973" y="3300983"/>
            <a:ext cx="3751874" cy="475488"/>
          </a:xfrm>
          <a:prstGeom prst="rect">
            <a:avLst/>
          </a:prstGeom>
          <a:noFill/>
        </p:spPr>
        <p:txBody>
          <a:bodyPr wrap="square" anchor="ctr">
            <a:spAutoFit/>
          </a:bodyPr>
          <a:lstStyle/>
          <a:p>
            <a:pPr algn="l">
              <a:spcAft>
                <a:spcPts val="400"/>
              </a:spcAft>
            </a:pPr>
            <a:r>
              <a:rPr sz="1150" b="0">
                <a:solidFill>
                  <a:srgbClr val="161B26"/>
                </a:solidFill>
                <a:latin typeface="Arial"/>
              </a:rPr>
              <a:t>The first full QEC code (1995); 3 blocks of 3</a:t>
            </a:r>
          </a:p>
        </p:txBody>
      </p:sp>
      <p:sp>
        <p:nvSpPr>
          <p:cNvPr id="39" name="Rectangle 38"/>
          <p:cNvSpPr/>
          <p:nvPr/>
        </p:nvSpPr>
        <p:spPr>
          <a:xfrm>
            <a:off x="777240" y="3776471"/>
            <a:ext cx="212689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776471"/>
            <a:ext cx="1944014" cy="475488"/>
          </a:xfrm>
          <a:prstGeom prst="rect">
            <a:avLst/>
          </a:prstGeom>
          <a:noFill/>
        </p:spPr>
        <p:txBody>
          <a:bodyPr wrap="square" anchor="ctr">
            <a:spAutoFit/>
          </a:bodyPr>
          <a:lstStyle/>
          <a:p>
            <a:pPr algn="l">
              <a:spcAft>
                <a:spcPts val="400"/>
              </a:spcAft>
            </a:pPr>
            <a:r>
              <a:rPr sz="1150" b="1">
                <a:solidFill>
                  <a:srgbClr val="161B26"/>
                </a:solidFill>
                <a:latin typeface="Arial"/>
              </a:rPr>
              <a:t>Steane code</a:t>
            </a:r>
          </a:p>
        </p:txBody>
      </p:sp>
      <p:sp>
        <p:nvSpPr>
          <p:cNvPr id="41" name="Rectangle 40"/>
          <p:cNvSpPr/>
          <p:nvPr/>
        </p:nvSpPr>
        <p:spPr>
          <a:xfrm>
            <a:off x="2904134" y="3776471"/>
            <a:ext cx="2020549"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032150" y="3776471"/>
            <a:ext cx="1837669" cy="475488"/>
          </a:xfrm>
          <a:prstGeom prst="rect">
            <a:avLst/>
          </a:prstGeom>
          <a:noFill/>
        </p:spPr>
        <p:txBody>
          <a:bodyPr wrap="square" anchor="ctr">
            <a:spAutoFit/>
          </a:bodyPr>
          <a:lstStyle/>
          <a:p>
            <a:pPr algn="l">
              <a:spcAft>
                <a:spcPts val="400"/>
              </a:spcAft>
            </a:pPr>
            <a:r>
              <a:rPr sz="1150" b="0">
                <a:solidFill>
                  <a:srgbClr val="161B26"/>
                </a:solidFill>
                <a:latin typeface="Arial"/>
              </a:rPr>
              <a:t>7</a:t>
            </a:r>
          </a:p>
        </p:txBody>
      </p:sp>
      <p:sp>
        <p:nvSpPr>
          <p:cNvPr id="43" name="Rectangle 42"/>
          <p:cNvSpPr/>
          <p:nvPr/>
        </p:nvSpPr>
        <p:spPr>
          <a:xfrm>
            <a:off x="4924684" y="3776471"/>
            <a:ext cx="2552273"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052700" y="3776471"/>
            <a:ext cx="2369393" cy="475488"/>
          </a:xfrm>
          <a:prstGeom prst="rect">
            <a:avLst/>
          </a:prstGeom>
          <a:noFill/>
        </p:spPr>
        <p:txBody>
          <a:bodyPr wrap="square" anchor="ctr">
            <a:spAutoFit/>
          </a:bodyPr>
          <a:lstStyle/>
          <a:p>
            <a:pPr algn="l">
              <a:spcAft>
                <a:spcPts val="400"/>
              </a:spcAft>
            </a:pPr>
            <a:r>
              <a:rPr sz="1150" b="0">
                <a:solidFill>
                  <a:srgbClr val="161B26"/>
                </a:solidFill>
                <a:latin typeface="Arial"/>
              </a:rPr>
              <a:t>ANY single-qubit error</a:t>
            </a:r>
          </a:p>
        </p:txBody>
      </p:sp>
      <p:sp>
        <p:nvSpPr>
          <p:cNvPr id="45" name="Rectangle 44"/>
          <p:cNvSpPr/>
          <p:nvPr/>
        </p:nvSpPr>
        <p:spPr>
          <a:xfrm>
            <a:off x="7476957" y="3776471"/>
            <a:ext cx="3934754"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04973" y="3776471"/>
            <a:ext cx="3751874" cy="475488"/>
          </a:xfrm>
          <a:prstGeom prst="rect">
            <a:avLst/>
          </a:prstGeom>
          <a:noFill/>
        </p:spPr>
        <p:txBody>
          <a:bodyPr wrap="square" anchor="ctr">
            <a:spAutoFit/>
          </a:bodyPr>
          <a:lstStyle/>
          <a:p>
            <a:pPr algn="l">
              <a:spcAft>
                <a:spcPts val="400"/>
              </a:spcAft>
            </a:pPr>
            <a:r>
              <a:rPr sz="1150" b="0">
                <a:solidFill>
                  <a:srgbClr val="161B26"/>
                </a:solidFill>
                <a:latin typeface="Arial"/>
              </a:rPr>
              <a:t>CSS code from the Hamming code; more efficient</a:t>
            </a:r>
          </a:p>
        </p:txBody>
      </p:sp>
      <p:sp>
        <p:nvSpPr>
          <p:cNvPr id="47" name="Rectangle 46"/>
          <p:cNvSpPr/>
          <p:nvPr/>
        </p:nvSpPr>
        <p:spPr>
          <a:xfrm>
            <a:off x="777240" y="4251959"/>
            <a:ext cx="212689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251959"/>
            <a:ext cx="1944014" cy="475488"/>
          </a:xfrm>
          <a:prstGeom prst="rect">
            <a:avLst/>
          </a:prstGeom>
          <a:noFill/>
        </p:spPr>
        <p:txBody>
          <a:bodyPr wrap="square" anchor="ctr">
            <a:spAutoFit/>
          </a:bodyPr>
          <a:lstStyle/>
          <a:p>
            <a:pPr algn="l">
              <a:spcAft>
                <a:spcPts val="400"/>
              </a:spcAft>
            </a:pPr>
            <a:r>
              <a:rPr sz="1150" b="1">
                <a:solidFill>
                  <a:srgbClr val="161B26"/>
                </a:solidFill>
                <a:latin typeface="Arial"/>
              </a:rPr>
              <a:t>Surface code</a:t>
            </a:r>
          </a:p>
        </p:txBody>
      </p:sp>
      <p:sp>
        <p:nvSpPr>
          <p:cNvPr id="49" name="Rectangle 48"/>
          <p:cNvSpPr/>
          <p:nvPr/>
        </p:nvSpPr>
        <p:spPr>
          <a:xfrm>
            <a:off x="2904134" y="4251959"/>
            <a:ext cx="2020549"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032150" y="4251959"/>
            <a:ext cx="1837669" cy="475488"/>
          </a:xfrm>
          <a:prstGeom prst="rect">
            <a:avLst/>
          </a:prstGeom>
          <a:noFill/>
        </p:spPr>
        <p:txBody>
          <a:bodyPr wrap="square" anchor="ctr">
            <a:spAutoFit/>
          </a:bodyPr>
          <a:lstStyle/>
          <a:p>
            <a:pPr algn="l">
              <a:spcAft>
                <a:spcPts val="400"/>
              </a:spcAft>
            </a:pPr>
            <a:r>
              <a:rPr sz="1150" b="0">
                <a:solidFill>
                  <a:srgbClr val="161B26"/>
                </a:solidFill>
                <a:latin typeface="Arial"/>
              </a:rPr>
              <a:t>~1,000 per logical</a:t>
            </a:r>
          </a:p>
        </p:txBody>
      </p:sp>
      <p:sp>
        <p:nvSpPr>
          <p:cNvPr id="51" name="Rectangle 50"/>
          <p:cNvSpPr/>
          <p:nvPr/>
        </p:nvSpPr>
        <p:spPr>
          <a:xfrm>
            <a:off x="4924684" y="4251959"/>
            <a:ext cx="2552273"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052700" y="4251959"/>
            <a:ext cx="2369393" cy="475488"/>
          </a:xfrm>
          <a:prstGeom prst="rect">
            <a:avLst/>
          </a:prstGeom>
          <a:noFill/>
        </p:spPr>
        <p:txBody>
          <a:bodyPr wrap="square" anchor="ctr">
            <a:spAutoFit/>
          </a:bodyPr>
          <a:lstStyle/>
          <a:p>
            <a:pPr algn="l">
              <a:spcAft>
                <a:spcPts val="400"/>
              </a:spcAft>
            </a:pPr>
            <a:r>
              <a:rPr sz="1150" b="0">
                <a:solidFill>
                  <a:srgbClr val="161B26"/>
                </a:solidFill>
                <a:latin typeface="Arial"/>
              </a:rPr>
              <a:t>ANY single-qubit error</a:t>
            </a:r>
          </a:p>
        </p:txBody>
      </p:sp>
      <p:sp>
        <p:nvSpPr>
          <p:cNvPr id="53" name="Rectangle 52"/>
          <p:cNvSpPr/>
          <p:nvPr/>
        </p:nvSpPr>
        <p:spPr>
          <a:xfrm>
            <a:off x="7476957" y="4251959"/>
            <a:ext cx="3934754" cy="47548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4251959"/>
            <a:ext cx="3751874" cy="475488"/>
          </a:xfrm>
          <a:prstGeom prst="rect">
            <a:avLst/>
          </a:prstGeom>
          <a:noFill/>
        </p:spPr>
        <p:txBody>
          <a:bodyPr wrap="square" anchor="ctr">
            <a:spAutoFit/>
          </a:bodyPr>
          <a:lstStyle/>
          <a:p>
            <a:pPr algn="l">
              <a:spcAft>
                <a:spcPts val="400"/>
              </a:spcAft>
            </a:pPr>
            <a:r>
              <a:rPr sz="1150" b="0">
                <a:solidFill>
                  <a:srgbClr val="161B26"/>
                </a:solidFill>
                <a:latin typeface="Arial"/>
              </a:rPr>
              <a:t>2-D lattice, high threshold — the leading candidate</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ROAD TO USEFUL QUANTUM COMPUTING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Fault-Tolerant Quantum Computing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definition</a:t>
            </a:r>
          </a:p>
          <a:p>
            <a:pPr algn="l">
              <a:spcAft>
                <a:spcPts val="300"/>
              </a:spcAft>
            </a:pPr>
            <a:r>
              <a:rPr sz="1100" b="0">
                <a:solidFill>
                  <a:srgbClr val="5B6372"/>
                </a:solidFill>
                <a:latin typeface="Arial"/>
              </a:rPr>
              <a:t>Errors do not spread uncontrollably, and correction is built into EVERY step of the computation.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Logical qubits</a:t>
            </a:r>
          </a:p>
          <a:p>
            <a:pPr algn="l">
              <a:spcAft>
                <a:spcPts val="300"/>
              </a:spcAft>
            </a:pPr>
            <a:r>
              <a:rPr sz="1100" b="0">
                <a:solidFill>
                  <a:srgbClr val="5B6372"/>
                </a:solidFill>
                <a:latin typeface="Arial"/>
              </a:rPr>
              <a:t>One useful qubit encoded in many physical ones — roughly 1,000 to 1 for the surface code.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Transversal gates</a:t>
            </a:r>
          </a:p>
          <a:p>
            <a:pPr algn="l">
              <a:spcAft>
                <a:spcPts val="300"/>
              </a:spcAft>
            </a:pPr>
            <a:r>
              <a:rPr sz="1100" b="0">
                <a:solidFill>
                  <a:srgbClr val="5B6372"/>
                </a:solidFill>
                <a:latin typeface="Arial"/>
              </a:rPr>
              <a:t>Apply a logical gate as separate physical gates so a single error cannot cascade.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Syndrome measurement</a:t>
            </a:r>
          </a:p>
          <a:p>
            <a:pPr algn="l">
              <a:spcAft>
                <a:spcPts val="300"/>
              </a:spcAft>
            </a:pPr>
            <a:r>
              <a:rPr sz="1100" b="0">
                <a:solidFill>
                  <a:srgbClr val="5B6372"/>
                </a:solidFill>
                <a:latin typeface="Arial"/>
              </a:rPr>
              <a:t>Stabiliser checks detect errors continuously without ever touching the logical state.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Threshold theorem</a:t>
            </a:r>
          </a:p>
          <a:p>
            <a:pPr algn="l">
              <a:spcAft>
                <a:spcPts val="300"/>
              </a:spcAft>
            </a:pPr>
            <a:r>
              <a:rPr sz="1100" b="0">
                <a:solidFill>
                  <a:srgbClr val="5B6372"/>
                </a:solidFill>
                <a:latin typeface="Arial"/>
              </a:rPr>
              <a:t>Below a physical error rate of about 0.1–1%, arbitrarily long computation becomes possible.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gap</a:t>
            </a:r>
          </a:p>
          <a:p>
            <a:pPr algn="l">
              <a:spcAft>
                <a:spcPts val="300"/>
              </a:spcAft>
            </a:pPr>
            <a:r>
              <a:rPr sz="1100" b="0">
                <a:solidFill>
                  <a:srgbClr val="5B6372"/>
                </a:solidFill>
                <a:latin typeface="Arial"/>
              </a:rPr>
              <a:t>Useful fault tolerance needs millions of physical qubits — today's machines have hundreds.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 DIAGNOSING UNEXPECTED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Simulator vs Real Hardware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noise-comparison.png"/>
          <p:cNvPicPr>
            <a:picLocks noChangeAspect="1"/>
          </p:cNvPicPr>
          <p:nvPr/>
        </p:nvPicPr>
        <p:blipFill>
          <a:blip r:embed="rId2"/>
          <a:stretch>
            <a:fillRect/>
          </a:stretch>
        </p:blipFill>
        <p:spPr>
          <a:xfrm>
            <a:off x="777240" y="2633096"/>
            <a:ext cx="6309360" cy="2689086"/>
          </a:xfrm>
          <a:prstGeom prst="rect">
            <a:avLst/>
          </a:prstGeom>
        </p:spPr>
      </p:pic>
      <p:sp>
        <p:nvSpPr>
          <p:cNvPr id="8" name="TextBox 7"/>
          <p:cNvSpPr txBox="1"/>
          <p:nvPr/>
        </p:nvSpPr>
        <p:spPr>
          <a:xfrm>
            <a:off x="777240" y="6126480"/>
            <a:ext cx="6309360" cy="320040"/>
          </a:xfrm>
          <a:prstGeom prst="rect">
            <a:avLst/>
          </a:prstGeom>
          <a:noFill/>
        </p:spPr>
        <p:txBody>
          <a:bodyPr wrap="square" anchor="t">
            <a:spAutoFit/>
          </a:bodyPr>
          <a:lstStyle/>
          <a:p>
            <a:pPr algn="ctr">
              <a:spcAft>
                <a:spcPts val="400"/>
              </a:spcAft>
            </a:pPr>
            <a:r>
              <a:rPr sz="1100" b="0">
                <a:solidFill>
                  <a:srgbClr val="5B6372"/>
                </a:solidFill>
                <a:latin typeface="Arial"/>
              </a:rPr>
              <a:t>This difference is exactly what Lab 16 asks you to explain.</a:t>
            </a:r>
          </a:p>
        </p:txBody>
      </p:sp>
      <p:sp>
        <p:nvSpPr>
          <p:cNvPr id="9" name="Rectangle 8"/>
          <p:cNvSpPr/>
          <p:nvPr/>
        </p:nvSpPr>
        <p:spPr>
          <a:xfrm>
            <a:off x="7360920" y="181051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60920" y="1810512"/>
            <a:ext cx="4050791"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0" y="1956816"/>
            <a:ext cx="3593591" cy="724662"/>
          </a:xfrm>
          <a:prstGeom prst="rect">
            <a:avLst/>
          </a:prstGeom>
          <a:noFill/>
        </p:spPr>
        <p:txBody>
          <a:bodyPr wrap="square" anchor="t">
            <a:spAutoFit/>
          </a:bodyPr>
          <a:lstStyle/>
          <a:p>
            <a:pPr algn="l">
              <a:spcAft>
                <a:spcPts val="300"/>
              </a:spcAft>
            </a:pPr>
            <a:r>
              <a:rPr sz="1400" b="1">
                <a:solidFill>
                  <a:srgbClr val="1F6FEB"/>
                </a:solidFill>
                <a:latin typeface="Arial"/>
              </a:rPr>
              <a:t>On the simulator</a:t>
            </a:r>
          </a:p>
          <a:p>
            <a:pPr algn="l">
              <a:spcAft>
                <a:spcPts val="300"/>
              </a:spcAft>
            </a:pPr>
            <a:r>
              <a:rPr sz="1150" b="0">
                <a:solidFill>
                  <a:srgbClr val="161B26"/>
                </a:solidFill>
                <a:latin typeface="Arial"/>
              </a:rPr>
              <a:t>Perfect qubits, no decoherence, no noise — the Bell state gives ONLY |00&gt; and |11&gt;.</a:t>
            </a:r>
          </a:p>
        </p:txBody>
      </p:sp>
      <p:sp>
        <p:nvSpPr>
          <p:cNvPr id="12" name="Rectangle 11"/>
          <p:cNvSpPr/>
          <p:nvPr/>
        </p:nvSpPr>
        <p:spPr>
          <a:xfrm>
            <a:off x="7360920" y="291922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60920" y="2919222"/>
            <a:ext cx="4050791"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3065526"/>
            <a:ext cx="3593591" cy="724662"/>
          </a:xfrm>
          <a:prstGeom prst="rect">
            <a:avLst/>
          </a:prstGeom>
          <a:noFill/>
        </p:spPr>
        <p:txBody>
          <a:bodyPr wrap="square" anchor="t">
            <a:spAutoFit/>
          </a:bodyPr>
          <a:lstStyle/>
          <a:p>
            <a:pPr algn="l">
              <a:spcAft>
                <a:spcPts val="300"/>
              </a:spcAft>
            </a:pPr>
            <a:r>
              <a:rPr sz="1400" b="1">
                <a:solidFill>
                  <a:srgbClr val="10B981"/>
                </a:solidFill>
                <a:latin typeface="Arial"/>
              </a:rPr>
              <a:t>On real hardware</a:t>
            </a:r>
          </a:p>
          <a:p>
            <a:pPr algn="l">
              <a:spcAft>
                <a:spcPts val="300"/>
              </a:spcAft>
            </a:pPr>
            <a:r>
              <a:rPr sz="1150" b="0">
                <a:solidFill>
                  <a:srgbClr val="161B26"/>
                </a:solidFill>
                <a:latin typeface="Arial"/>
              </a:rPr>
              <a:t>|01&gt; and |10&gt; appear too — outcomes that are theoretically impossible.</a:t>
            </a:r>
          </a:p>
        </p:txBody>
      </p:sp>
      <p:sp>
        <p:nvSpPr>
          <p:cNvPr id="15" name="Rectangle 14"/>
          <p:cNvSpPr/>
          <p:nvPr/>
        </p:nvSpPr>
        <p:spPr>
          <a:xfrm>
            <a:off x="7360920" y="402793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4027932"/>
            <a:ext cx="4050791"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4174236"/>
            <a:ext cx="3593591" cy="724662"/>
          </a:xfrm>
          <a:prstGeom prst="rect">
            <a:avLst/>
          </a:prstGeom>
          <a:noFill/>
        </p:spPr>
        <p:txBody>
          <a:bodyPr wrap="square" anchor="t">
            <a:spAutoFit/>
          </a:bodyPr>
          <a:lstStyle/>
          <a:p>
            <a:pPr algn="l">
              <a:spcAft>
                <a:spcPts val="300"/>
              </a:spcAft>
            </a:pPr>
            <a:r>
              <a:rPr sz="1400" b="1">
                <a:solidFill>
                  <a:srgbClr val="7C3AED"/>
                </a:solidFill>
                <a:latin typeface="Arial"/>
              </a:rPr>
              <a:t>The causes</a:t>
            </a:r>
          </a:p>
          <a:p>
            <a:pPr algn="l">
              <a:spcAft>
                <a:spcPts val="300"/>
              </a:spcAft>
            </a:pPr>
            <a:r>
              <a:rPr sz="1150" b="0">
                <a:solidFill>
                  <a:srgbClr val="161B26"/>
                </a:solidFill>
                <a:latin typeface="Arial"/>
              </a:rPr>
              <a:t>T1 relaxation, T2 dephasing, two-qubit gate infidelity, readout error and crosstalk.</a:t>
            </a:r>
          </a:p>
        </p:txBody>
      </p:sp>
      <p:sp>
        <p:nvSpPr>
          <p:cNvPr id="18" name="Rectangle 17"/>
          <p:cNvSpPr/>
          <p:nvPr/>
        </p:nvSpPr>
        <p:spPr>
          <a:xfrm>
            <a:off x="7360920" y="5136642"/>
            <a:ext cx="4050791" cy="9441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60920" y="5136642"/>
            <a:ext cx="4050791"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5282946"/>
            <a:ext cx="3593591" cy="724662"/>
          </a:xfrm>
          <a:prstGeom prst="rect">
            <a:avLst/>
          </a:prstGeom>
          <a:noFill/>
        </p:spPr>
        <p:txBody>
          <a:bodyPr wrap="square" anchor="t">
            <a:spAutoFit/>
          </a:bodyPr>
          <a:lstStyle/>
          <a:p>
            <a:pPr algn="l">
              <a:spcAft>
                <a:spcPts val="300"/>
              </a:spcAft>
            </a:pPr>
            <a:r>
              <a:rPr sz="1400" b="1">
                <a:solidFill>
                  <a:srgbClr val="F59E0B"/>
                </a:solidFill>
                <a:latin typeface="Arial"/>
              </a:rPr>
              <a:t>The mitigations</a:t>
            </a:r>
          </a:p>
          <a:p>
            <a:pPr algn="l">
              <a:spcAft>
                <a:spcPts val="300"/>
              </a:spcAft>
            </a:pPr>
            <a:r>
              <a:rPr sz="1150" b="0">
                <a:solidFill>
                  <a:srgbClr val="161B26"/>
                </a:solidFill>
                <a:latin typeface="Arial"/>
              </a:rPr>
              <a:t>Shallower circuits, better-calibrated qubits, more shots, readout mitigation — then QEC.</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VARIATIONAL CIRCUITS · THE NISQ WORKHORSE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Introduction to Quantum Machine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hybrid loop</a:t>
            </a:r>
          </a:p>
          <a:p>
            <a:pPr algn="l">
              <a:spcAft>
                <a:spcPts val="300"/>
              </a:spcAft>
            </a:pPr>
            <a:r>
              <a:rPr sz="1100" b="0">
                <a:solidFill>
                  <a:srgbClr val="5B6372"/>
                </a:solidFill>
                <a:latin typeface="Arial"/>
              </a:rPr>
              <a:t>A quantum circuit computes; a CLASSICAL optimiser updates its parameters. Repeat until converged.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Data encoding</a:t>
            </a:r>
          </a:p>
          <a:p>
            <a:pPr algn="l">
              <a:spcAft>
                <a:spcPts val="300"/>
              </a:spcAft>
            </a:pPr>
            <a:r>
              <a:rPr sz="1100" b="0">
                <a:solidFill>
                  <a:srgbClr val="5B6372"/>
                </a:solidFill>
                <a:latin typeface="Arial"/>
              </a:rPr>
              <a:t>Classical data is loaded as rotation angles (angle encoding) or amplitudes (amplitude encoding).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ansatz</a:t>
            </a:r>
          </a:p>
          <a:p>
            <a:pPr algn="l">
              <a:spcAft>
                <a:spcPts val="300"/>
              </a:spcAft>
            </a:pPr>
            <a:r>
              <a:rPr sz="1100" b="0">
                <a:solidFill>
                  <a:srgbClr val="5B6372"/>
                </a:solidFill>
                <a:latin typeface="Arial"/>
              </a:rPr>
              <a:t>A parameterised circuit of trainable RY/RZ rotations interleaved with entangling CNOTs.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Measurement</a:t>
            </a:r>
          </a:p>
          <a:p>
            <a:pPr algn="l">
              <a:spcAft>
                <a:spcPts val="300"/>
              </a:spcAft>
            </a:pPr>
            <a:r>
              <a:rPr sz="1100" b="0">
                <a:solidFill>
                  <a:srgbClr val="5B6372"/>
                </a:solidFill>
                <a:latin typeface="Arial"/>
              </a:rPr>
              <a:t>The expectation value of an observable becomes the model's output, feeding a cost function.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VQE</a:t>
            </a:r>
          </a:p>
          <a:p>
            <a:pPr algn="l">
              <a:spcAft>
                <a:spcPts val="300"/>
              </a:spcAft>
            </a:pPr>
            <a:r>
              <a:rPr sz="1100" b="0">
                <a:solidFill>
                  <a:srgbClr val="5B6372"/>
                </a:solidFill>
                <a:latin typeface="Arial"/>
              </a:rPr>
              <a:t>Variational Quantum Eigensolver — finds a molecule's ground-state energy. Chemistry's killer app.</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QAOA</a:t>
            </a:r>
          </a:p>
          <a:p>
            <a:pPr algn="l">
              <a:spcAft>
                <a:spcPts val="300"/>
              </a:spcAft>
            </a:pPr>
            <a:r>
              <a:rPr sz="1100" b="0">
                <a:solidFill>
                  <a:srgbClr val="5B6372"/>
                </a:solidFill>
                <a:latin typeface="Arial"/>
              </a:rPr>
              <a:t>Quantum Approximate Optimisation Algorithm — tackles combinatorial problems such as MaxCut.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HOW A QML MODEL IS TRAINED</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The Hybrid Quantum-Classical Training Loop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Encode the classical input data as rotation angles</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Run the parameterised ansatz on the quantum device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Measure to obtain an expectation value</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A classical optimiser computes the cost and gradient</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300" b="0">
                <a:solidFill>
                  <a:srgbClr val="161B26"/>
                </a:solidFill>
                <a:latin typeface="Arial"/>
              </a:rPr>
              <a:t>Update the parameters and repeat until converged</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CURRENT STATUS AND OUTLOOK</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Where We Are Today — The NISQ Era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NISQ</a:t>
            </a:r>
          </a:p>
          <a:p>
            <a:pPr algn="l">
              <a:spcAft>
                <a:spcPts val="300"/>
              </a:spcAft>
            </a:pPr>
            <a:r>
              <a:rPr sz="1100" b="0">
                <a:solidFill>
                  <a:srgbClr val="5B6372"/>
                </a:solidFill>
                <a:latin typeface="Arial"/>
              </a:rPr>
              <a:t>Noisy Intermediate-Scale Quantum: 50–1,000+ qubits, high error rates, short coherence.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Not yet fault-tolerant</a:t>
            </a:r>
          </a:p>
          <a:p>
            <a:pPr algn="l">
              <a:spcAft>
                <a:spcPts val="300"/>
              </a:spcAft>
            </a:pPr>
            <a:r>
              <a:rPr sz="1100" b="0">
                <a:solidFill>
                  <a:srgbClr val="5B6372"/>
                </a:solidFill>
                <a:latin typeface="Arial"/>
              </a:rPr>
              <a:t>IBM, Google and IonQ machines cannot yet run Shor's algorithm at useful scale.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Already useful</a:t>
            </a:r>
          </a:p>
          <a:p>
            <a:pPr algn="l">
              <a:spcAft>
                <a:spcPts val="300"/>
              </a:spcAft>
            </a:pPr>
            <a:r>
              <a:rPr sz="1100" b="0">
                <a:solidFill>
                  <a:srgbClr val="5B6372"/>
                </a:solidFill>
                <a:latin typeface="Arial"/>
              </a:rPr>
              <a:t>Optimisation pilots, molecular simulation, certified randomness and QKD deployments.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Next 5–10 years</a:t>
            </a:r>
          </a:p>
          <a:p>
            <a:pPr algn="l">
              <a:spcAft>
                <a:spcPts val="300"/>
              </a:spcAft>
            </a:pPr>
            <a:r>
              <a:rPr sz="1100" b="0">
                <a:solidFill>
                  <a:srgbClr val="5B6372"/>
                </a:solidFill>
                <a:latin typeface="Arial"/>
              </a:rPr>
              <a:t>Better qubits, early logical qubits, quantum accelerators alongside GPUs in the cloud.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The challenges</a:t>
            </a:r>
          </a:p>
          <a:p>
            <a:pPr algn="l">
              <a:spcAft>
                <a:spcPts val="300"/>
              </a:spcAft>
            </a:pPr>
            <a:r>
              <a:rPr sz="1100" b="0">
                <a:solidFill>
                  <a:srgbClr val="5B6372"/>
                </a:solidFill>
                <a:latin typeface="Arial"/>
              </a:rPr>
              <a:t>Scaling to a million qubits, correction overhead, millikelvin cryogenics and control wiring.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Act now</a:t>
            </a:r>
          </a:p>
          <a:p>
            <a:pPr algn="l">
              <a:spcAft>
                <a:spcPts val="300"/>
              </a:spcAft>
            </a:pPr>
            <a:r>
              <a:rPr sz="1100" b="0">
                <a:solidFill>
                  <a:srgbClr val="5B6372"/>
                </a:solidFill>
                <a:latin typeface="Arial"/>
              </a:rPr>
              <a:t>Post-quantum cryptography migration and workforce skills should start today — harvest-now-decrypt-later.</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 ON IBM QUANTUM COMPOSER</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Hands-On Labs — Quantum Computing Applications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14–15</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300" b="0">
                <a:solidFill>
                  <a:srgbClr val="161B26"/>
                </a:solidFill>
                <a:latin typeface="Arial"/>
              </a:rPr>
              <a:t>•  Quantum Error Correction — The Bit-Flip Code</a:t>
            </a:r>
          </a:p>
          <a:p>
            <a:pPr>
              <a:spcAft>
                <a:spcPts val="900"/>
              </a:spcAft>
            </a:pPr>
            <a:r>
              <a:rPr sz="1300" b="0">
                <a:solidFill>
                  <a:srgbClr val="161B26"/>
                </a:solidFill>
                <a:latin typeface="Arial"/>
              </a:rPr>
              <a:t>•  Quantum Error Correction — The Phase-Flip Code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16–17</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300" b="0">
                <a:solidFill>
                  <a:srgbClr val="161B26"/>
                </a:solidFill>
                <a:latin typeface="Arial"/>
              </a:rPr>
              <a:t>•  Simulator vs Real Quantum Hardware</a:t>
            </a:r>
          </a:p>
          <a:p>
            <a:pPr>
              <a:spcAft>
                <a:spcPts val="900"/>
              </a:spcAft>
            </a:pPr>
            <a:r>
              <a:rPr sz="1300" b="0">
                <a:solidFill>
                  <a:srgbClr val="161B26"/>
                </a:solidFill>
                <a:latin typeface="Arial"/>
              </a:rPr>
              <a:t>•  Introduction to Quantum Machine Learning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300" b="0">
                <a:solidFill>
                  <a:srgbClr val="161B26"/>
                </a:solidFill>
                <a:latin typeface="Arial"/>
              </a:rPr>
              <a:t>•  —</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Error Correction — The Bit-Flip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14</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Protect one logical qubit against a bit-flip error by encoding it into three physical qubits. Deliberately inject an X error on IBM Quantum Composer, detect it with a syndrome measurement, and correct it.</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Open a 5-qubit circuit: q[0]-q[2] hold the encoded…</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ENCODE: place the logical state on q[0] (use H for a…</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a barrier, then INJECT an error: place a single X…</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a barrier, then measure the first syndrome: CNOT from…</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Measure the second syndrome: CNOT from q[1] to q[4] and…</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A 3-qubit bit-flip code that detects and corrects an injected X error on any one of the three qubits.</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14</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Quantum Error Correction — The Phase-Flip Code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15</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Phase flips are invisible to the bit-flip code. Learn the standard trick — surround the code with Hadamards to turn Z errors into X errors — and correct a phase flip on IBM Quantum Composer.</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First show the problem: build the bit-flip code from Lab…</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Now build the phase-flip code</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a barrier and INJECT a Z error on q[1] — a phase flip…</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a barrier, then apply H to all three code qubits again</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Run the same syndrome extraction as Lab 14: CNOTs from…</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A 3-qubit phase-flip code that detects and corrects an injected Z error.</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15</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Simulator vs Real Quantum Hardware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16</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 IBM…</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Run the same circuit on the ideal simulator and on real IBM quantum hardware, compare the histograms, and diagnose the difference.</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Rebuild the Bell-state circuit from Lab 3: H on q[0]…</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Run it on the SIMULATOR with 1024 shots and record the…</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Switch the backend to a real IBM quantum device from the…</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Wait for the job to complete in the queue, then open the…</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Compare: the hardware histogram still peaks at |00&gt; and…</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A side-by-side comparison of the Bell-state histogram on the simulator and on real hardware, with the error sources identified.</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16</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Introduction to Quantum Machine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6916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691640" cy="420624"/>
          </a:xfrm>
          <a:prstGeom prst="rect">
            <a:avLst/>
          </a:prstGeom>
          <a:noFill/>
        </p:spPr>
        <p:txBody>
          <a:bodyPr wrap="square" anchor="ctr">
            <a:spAutoFit/>
          </a:bodyPr>
          <a:lstStyle/>
          <a:p>
            <a:pPr algn="ctr">
              <a:spcAft>
                <a:spcPts val="400"/>
              </a:spcAft>
            </a:pPr>
            <a:r>
              <a:rPr sz="1500" b="1">
                <a:solidFill>
                  <a:srgbClr val="FFFFFF"/>
                </a:solidFill>
                <a:latin typeface="Arial"/>
              </a:rPr>
              <a:t>LAB 17</a:t>
            </a:r>
          </a:p>
        </p:txBody>
      </p:sp>
      <p:sp>
        <p:nvSpPr>
          <p:cNvPr id="9" name="Rectangle 8"/>
          <p:cNvSpPr/>
          <p:nvPr/>
        </p:nvSpPr>
        <p:spPr>
          <a:xfrm>
            <a:off x="8732520" y="1719072"/>
            <a:ext cx="267919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32520" y="1719072"/>
            <a:ext cx="2679192" cy="420624"/>
          </a:xfrm>
          <a:prstGeom prst="rect">
            <a:avLst/>
          </a:prstGeom>
          <a:noFill/>
        </p:spPr>
        <p:txBody>
          <a:bodyPr wrap="square" anchor="ctr">
            <a:spAutoFit/>
          </a:bodyPr>
          <a:lstStyle/>
          <a:p>
            <a:pPr algn="ctr">
              <a:spcAft>
                <a:spcPts val="400"/>
              </a:spcAft>
            </a:pPr>
            <a:r>
              <a:rPr sz="1100" b="1">
                <a:solidFill>
                  <a:srgbClr val="5B6372"/>
                </a:solidFill>
                <a:latin typeface="Arial"/>
              </a:rPr>
              <a:t>IBM Quantum Composer</a:t>
            </a:r>
          </a:p>
        </p:txBody>
      </p:sp>
      <p:sp>
        <p:nvSpPr>
          <p:cNvPr id="11" name="TextBox 10"/>
          <p:cNvSpPr txBox="1"/>
          <p:nvPr/>
        </p:nvSpPr>
        <p:spPr>
          <a:xfrm>
            <a:off x="777240" y="2331720"/>
            <a:ext cx="10607040" cy="1143000"/>
          </a:xfrm>
          <a:prstGeom prst="rect">
            <a:avLst/>
          </a:prstGeom>
          <a:noFill/>
        </p:spPr>
        <p:txBody>
          <a:bodyPr wrap="square" anchor="t">
            <a:spAutoFit/>
          </a:bodyPr>
          <a:lstStyle/>
          <a:p>
            <a:pPr algn="l">
              <a:spcAft>
                <a:spcPts val="400"/>
              </a:spcAft>
            </a:pPr>
            <a:r>
              <a:rPr sz="1700" b="0">
                <a:solidFill>
                  <a:srgbClr val="161B26"/>
                </a:solidFill>
                <a:latin typeface="Arial"/>
              </a:rPr>
              <a:t>Build a parameterised variational circuit — the building block of every quantum machine learning model. Vary the parameters on IBM Quantum Composer, observe the effect on the output distribution, and see how a hybrid quantum-classical training loop works.</a:t>
            </a:r>
          </a:p>
        </p:txBody>
      </p:sp>
      <p:sp>
        <p:nvSpPr>
          <p:cNvPr id="12" name="Rectangle 11"/>
          <p:cNvSpPr/>
          <p:nvPr/>
        </p:nvSpPr>
        <p:spPr>
          <a:xfrm>
            <a:off x="777240"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31620"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31620"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6" name="TextBox 15"/>
          <p:cNvSpPr txBox="1"/>
          <p:nvPr/>
        </p:nvSpPr>
        <p:spPr>
          <a:xfrm>
            <a:off x="868680"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Understand the pattern: a variational circuit has a…</a:t>
            </a:r>
          </a:p>
        </p:txBody>
      </p:sp>
      <p:sp>
        <p:nvSpPr>
          <p:cNvPr id="17" name="TextBox 16"/>
          <p:cNvSpPr txBox="1"/>
          <p:nvPr/>
        </p:nvSpPr>
        <p:spPr>
          <a:xfrm>
            <a:off x="2743200"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18" name="Rectangle 17"/>
          <p:cNvSpPr/>
          <p:nvPr/>
        </p:nvSpPr>
        <p:spPr>
          <a:xfrm>
            <a:off x="2944368"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944368"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3698748"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98748"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2" name="TextBox 21"/>
          <p:cNvSpPr txBox="1"/>
          <p:nvPr/>
        </p:nvSpPr>
        <p:spPr>
          <a:xfrm>
            <a:off x="3035808"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Open a 2-qubit circuit</a:t>
            </a:r>
          </a:p>
        </p:txBody>
      </p:sp>
      <p:sp>
        <p:nvSpPr>
          <p:cNvPr id="23" name="TextBox 22"/>
          <p:cNvSpPr txBox="1"/>
          <p:nvPr/>
        </p:nvSpPr>
        <p:spPr>
          <a:xfrm>
            <a:off x="4910328"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24" name="Rectangle 23"/>
          <p:cNvSpPr/>
          <p:nvPr/>
        </p:nvSpPr>
        <p:spPr>
          <a:xfrm>
            <a:off x="5111496"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11496"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865876"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65876"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8" name="TextBox 27"/>
          <p:cNvSpPr txBox="1"/>
          <p:nvPr/>
        </p:nvSpPr>
        <p:spPr>
          <a:xfrm>
            <a:off x="5202936"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the ENTANGLING layer: a CNOT with control q[0] and…</a:t>
            </a:r>
          </a:p>
        </p:txBody>
      </p:sp>
      <p:sp>
        <p:nvSpPr>
          <p:cNvPr id="29" name="TextBox 28"/>
          <p:cNvSpPr txBox="1"/>
          <p:nvPr/>
        </p:nvSpPr>
        <p:spPr>
          <a:xfrm>
            <a:off x="7077456"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0" name="Rectangle 29"/>
          <p:cNvSpPr/>
          <p:nvPr/>
        </p:nvSpPr>
        <p:spPr>
          <a:xfrm>
            <a:off x="7278624"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278624"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033004"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33004"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7370064"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Add the TRAINABLE layer: an RY gate on each qubit with…</a:t>
            </a:r>
          </a:p>
        </p:txBody>
      </p:sp>
      <p:sp>
        <p:nvSpPr>
          <p:cNvPr id="35" name="TextBox 34"/>
          <p:cNvSpPr txBox="1"/>
          <p:nvPr/>
        </p:nvSpPr>
        <p:spPr>
          <a:xfrm>
            <a:off x="9244584" y="4114800"/>
            <a:ext cx="201168" cy="365760"/>
          </a:xfrm>
          <a:prstGeom prst="rect">
            <a:avLst/>
          </a:prstGeom>
          <a:noFill/>
        </p:spPr>
        <p:txBody>
          <a:bodyPr wrap="square" anchor="ctr">
            <a:spAutoFit/>
          </a:bodyPr>
          <a:lstStyle/>
          <a:p>
            <a:pPr algn="ctr">
              <a:spcAft>
                <a:spcPts val="400"/>
              </a:spcAft>
            </a:pPr>
            <a:r>
              <a:rPr sz="1100" b="1">
                <a:solidFill>
                  <a:srgbClr val="10B981"/>
                </a:solidFill>
                <a:latin typeface="Arial"/>
              </a:rPr>
              <a:t>▶</a:t>
            </a:r>
          </a:p>
        </p:txBody>
      </p:sp>
      <p:sp>
        <p:nvSpPr>
          <p:cNvPr id="36" name="Rectangle 35"/>
          <p:cNvSpPr/>
          <p:nvPr/>
        </p:nvSpPr>
        <p:spPr>
          <a:xfrm>
            <a:off x="9445752" y="3611880"/>
            <a:ext cx="1965960" cy="13716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445752" y="3611880"/>
            <a:ext cx="196596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200132" y="3831336"/>
            <a:ext cx="457200" cy="45720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00132" y="3831336"/>
            <a:ext cx="457200" cy="457200"/>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40" name="TextBox 39"/>
          <p:cNvSpPr txBox="1"/>
          <p:nvPr/>
        </p:nvSpPr>
        <p:spPr>
          <a:xfrm>
            <a:off x="9537192" y="4361688"/>
            <a:ext cx="1783080" cy="566928"/>
          </a:xfrm>
          <a:prstGeom prst="rect">
            <a:avLst/>
          </a:prstGeom>
          <a:noFill/>
        </p:spPr>
        <p:txBody>
          <a:bodyPr wrap="square" anchor="t">
            <a:spAutoFit/>
          </a:bodyPr>
          <a:lstStyle/>
          <a:p>
            <a:pPr algn="ctr">
              <a:spcAft>
                <a:spcPts val="400"/>
              </a:spcAft>
            </a:pPr>
            <a:r>
              <a:rPr sz="1000" b="0">
                <a:solidFill>
                  <a:srgbClr val="161B26"/>
                </a:solidFill>
                <a:latin typeface="Arial"/>
              </a:rPr>
              <a:t>Measure both qubits and run 1024 shots</a:t>
            </a:r>
          </a:p>
        </p:txBody>
      </p:sp>
      <p:sp>
        <p:nvSpPr>
          <p:cNvPr id="41" name="Rectangle 40"/>
          <p:cNvSpPr/>
          <p:nvPr/>
        </p:nvSpPr>
        <p:spPr>
          <a:xfrm>
            <a:off x="777240" y="5138928"/>
            <a:ext cx="10634472" cy="658368"/>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5138928"/>
            <a:ext cx="10149840" cy="658368"/>
          </a:xfrm>
          <a:prstGeom prst="rect">
            <a:avLst/>
          </a:prstGeom>
          <a:noFill/>
        </p:spPr>
        <p:txBody>
          <a:bodyPr wrap="square" anchor="ctr">
            <a:spAutoFit/>
          </a:bodyPr>
          <a:lstStyle/>
          <a:p>
            <a:pPr algn="l">
              <a:spcAft>
                <a:spcPts val="400"/>
              </a:spcAft>
            </a:pPr>
            <a:r>
              <a:rPr sz="1100" b="1">
                <a:solidFill>
                  <a:srgbClr val="127A3E"/>
                </a:solidFill>
                <a:latin typeface="Arial"/>
              </a:rPr>
              <a:t>YOU'LL PRODUCE   </a:t>
            </a:r>
            <a:r>
              <a:rPr sz="1300" b="0">
                <a:solidFill>
                  <a:srgbClr val="161B26"/>
                </a:solidFill>
                <a:latin typeface="Arial"/>
              </a:rPr>
              <a:t>A 2-qubit variational ansatz whose rotation angles you tune to steer the output distribution towards a target.</a:t>
            </a:r>
          </a:p>
        </p:txBody>
      </p:sp>
      <p:sp>
        <p:nvSpPr>
          <p:cNvPr id="43" name="TextBox 42"/>
          <p:cNvSpPr txBox="1"/>
          <p:nvPr/>
        </p:nvSpPr>
        <p:spPr>
          <a:xfrm>
            <a:off x="777240" y="5897880"/>
            <a:ext cx="10634472" cy="365760"/>
          </a:xfrm>
          <a:prstGeom prst="rect">
            <a:avLst/>
          </a:prstGeom>
          <a:noFill/>
        </p:spPr>
        <p:txBody>
          <a:bodyPr wrap="square" anchor="t">
            <a:spAutoFit/>
          </a:bodyPr>
          <a:lstStyle/>
          <a:p>
            <a:pPr algn="l">
              <a:spcAft>
                <a:spcPts val="400"/>
              </a:spcAft>
            </a:pPr>
            <a:r>
              <a:rPr sz="1100" b="1">
                <a:solidFill>
                  <a:srgbClr val="5B6372"/>
                </a:solidFill>
                <a:latin typeface="Arial"/>
              </a:rPr>
              <a:t>Full step-by-step guide: Learner Guide, Lab 17</a:t>
            </a:r>
          </a:p>
        </p:txBody>
      </p:sp>
      <p:sp>
        <p:nvSpPr>
          <p:cNvPr id="44" name="TextBox 4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5" name="TextBox 4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6" name="TextBox 4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04 RECAP</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Recap — Quantum Computing Applications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1700" b="0">
                <a:solidFill>
                  <a:srgbClr val="161B26"/>
                </a:solidFill>
                <a:latin typeface="Arial"/>
              </a:rPr>
              <a:t>•  QEC encodes one logical qubit across many physical ones and measures parity, never the data itself.</a:t>
            </a:r>
          </a:p>
          <a:p>
            <a:pPr>
              <a:spcAft>
                <a:spcPts val="1000"/>
              </a:spcAft>
            </a:pPr>
            <a:r>
              <a:rPr sz="1700" b="0">
                <a:solidFill>
                  <a:srgbClr val="161B26"/>
                </a:solidFill>
                <a:latin typeface="Arial"/>
              </a:rPr>
              <a:t>•  The bit-flip code catches X errors; conjugating with Hadamards catches Z errors; Shor and Steane catch both.</a:t>
            </a:r>
          </a:p>
          <a:p>
            <a:pPr>
              <a:spcAft>
                <a:spcPts val="1000"/>
              </a:spcAft>
            </a:pPr>
            <a:r>
              <a:rPr sz="1700" b="0">
                <a:solidFill>
                  <a:srgbClr val="161B26"/>
                </a:solidFill>
                <a:latin typeface="Arial"/>
              </a:rPr>
              <a:t>•  Fault tolerance needs the physical error rate below threshold — and roughly 1,000 physical qubits per logical one.</a:t>
            </a:r>
          </a:p>
          <a:p>
            <a:pPr>
              <a:spcAft>
                <a:spcPts val="1000"/>
              </a:spcAft>
            </a:pPr>
            <a:r>
              <a:rPr sz="1700" b="0">
                <a:solidFill>
                  <a:srgbClr val="161B26"/>
                </a:solidFill>
                <a:latin typeface="Arial"/>
              </a:rPr>
              <a:t>•  Real hardware produces outcomes that are impossible in theory, caused by decoherence, gate and readout error.</a:t>
            </a:r>
          </a:p>
          <a:p>
            <a:pPr>
              <a:spcAft>
                <a:spcPts val="1000"/>
              </a:spcAft>
            </a:pPr>
            <a:r>
              <a:rPr sz="1700" b="0">
                <a:solidFill>
                  <a:srgbClr val="161B26"/>
                </a:solidFill>
                <a:latin typeface="Arial"/>
              </a:rPr>
              <a:t>•  QML runs a parameterised circuit inside a classical optimisation loop — VQE for chemistry, QAOA for optimisation.</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95097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LO1 · Platforms</a:t>
            </a:r>
          </a:p>
          <a:p>
            <a:pPr algn="l">
              <a:spcAft>
                <a:spcPts val="300"/>
              </a:spcAft>
            </a:pPr>
            <a:r>
              <a:rPr sz="1200" b="0">
                <a:solidFill>
                  <a:srgbClr val="5B6372"/>
                </a:solidFill>
                <a:latin typeface="Arial"/>
              </a:rPr>
              <a:t>Used IBM Quantum Composer and the Bloch sphere to test gates, circuits and algorithms.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LO2 · Gates &amp; logic</a:t>
            </a:r>
          </a:p>
          <a:p>
            <a:pPr algn="l">
              <a:spcAft>
                <a:spcPts val="300"/>
              </a:spcAft>
            </a:pPr>
            <a:r>
              <a:rPr sz="1200" b="0">
                <a:solidFill>
                  <a:srgbClr val="5B6372"/>
                </a:solidFill>
                <a:latin typeface="Arial"/>
              </a:rPr>
              <a:t>Applied Pauli, Hadamard, rotation, phase, CNOT, CZ, SWAP and Toffoli gates to derive solutions.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4197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LO3 · Algorithms</a:t>
            </a:r>
          </a:p>
          <a:p>
            <a:pPr algn="l">
              <a:spcAft>
                <a:spcPts val="300"/>
              </a:spcAft>
            </a:pPr>
            <a:r>
              <a:rPr sz="1200" b="0">
                <a:solidFill>
                  <a:srgbClr val="5B6372"/>
                </a:solidFill>
                <a:latin typeface="Arial"/>
              </a:rPr>
              <a:t>Built and tested teleportation, superdense coding, BB84, Deutsch-Jozsa, BV and Grover.</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4197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LO4 · Applications</a:t>
            </a:r>
          </a:p>
          <a:p>
            <a:pPr algn="l">
              <a:spcAft>
                <a:spcPts val="300"/>
              </a:spcAft>
            </a:pPr>
            <a:r>
              <a:rPr sz="1200" b="0">
                <a:solidFill>
                  <a:srgbClr val="5B6372"/>
                </a:solidFill>
                <a:latin typeface="Arial"/>
              </a:rPr>
              <a:t>Diagnosed hardware noise, corrected quantum errors and trained a variational QML circuit.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Q&amp;A · ASK ANYTHING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Summary — The Whole Course on One Slide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Superposition</a:t>
            </a:r>
          </a:p>
          <a:p>
            <a:pPr algn="l">
              <a:spcAft>
                <a:spcPts val="300"/>
              </a:spcAft>
            </a:pPr>
            <a:r>
              <a:rPr sz="1100" b="0">
                <a:solidFill>
                  <a:srgbClr val="5B6372"/>
                </a:solidFill>
                <a:latin typeface="Arial"/>
              </a:rPr>
              <a:t>A qubit holds |0&gt; and |1&gt; at once; H is the gate that creates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Entanglement</a:t>
            </a:r>
          </a:p>
          <a:p>
            <a:pPr algn="l">
              <a:spcAft>
                <a:spcPts val="300"/>
              </a:spcAft>
            </a:pPr>
            <a:r>
              <a:rPr sz="1100" b="0">
                <a:solidFill>
                  <a:srgbClr val="5B6372"/>
                </a:solidFill>
                <a:latin typeface="Arial"/>
              </a:rPr>
              <a:t>H then CNOT builds a Bell pair — correlations no classical system can reproduce.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Interference</a:t>
            </a:r>
          </a:p>
          <a:p>
            <a:pPr algn="l">
              <a:spcAft>
                <a:spcPts val="300"/>
              </a:spcAft>
            </a:pPr>
            <a:r>
              <a:rPr sz="1100" b="0">
                <a:solidFill>
                  <a:srgbClr val="5B6372"/>
                </a:solidFill>
                <a:latin typeface="Arial"/>
              </a:rPr>
              <a:t>Algorithms make wrong answers cancel and right answers reinforce.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3429000"/>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Phase kickback</a:t>
            </a:r>
          </a:p>
          <a:p>
            <a:pPr algn="l">
              <a:spcAft>
                <a:spcPts val="300"/>
              </a:spcAft>
            </a:pPr>
            <a:r>
              <a:rPr sz="1100" b="0">
                <a:solidFill>
                  <a:srgbClr val="5B6372"/>
                </a:solidFill>
                <a:latin typeface="Arial"/>
              </a:rPr>
              <a:t>Turns an oracle's hidden answer into a measurable phase on the control register.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Speedups</a:t>
            </a:r>
          </a:p>
          <a:p>
            <a:pPr algn="l">
              <a:spcAft>
                <a:spcPts val="300"/>
              </a:spcAft>
            </a:pPr>
            <a:r>
              <a:rPr sz="1100" b="0">
                <a:solidFill>
                  <a:srgbClr val="5B6372"/>
                </a:solidFill>
                <a:latin typeface="Arial"/>
              </a:rPr>
              <a:t>Deutsch-Jozsa and BV are exponential in queries; Grover is quadratic and provably optimal.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6" name="TextBox 35"/>
          <p:cNvSpPr txBox="1"/>
          <p:nvPr/>
        </p:nvSpPr>
        <p:spPr>
          <a:xfrm>
            <a:off x="7219188" y="4965192"/>
            <a:ext cx="3973068" cy="1115568"/>
          </a:xfrm>
          <a:prstGeom prst="rect">
            <a:avLst/>
          </a:prstGeom>
          <a:noFill/>
        </p:spPr>
        <p:txBody>
          <a:bodyPr wrap="square" anchor="ctr">
            <a:spAutoFit/>
          </a:bodyPr>
          <a:lstStyle/>
          <a:p>
            <a:pPr algn="l">
              <a:spcAft>
                <a:spcPts val="300"/>
              </a:spcAft>
            </a:pPr>
            <a:r>
              <a:rPr sz="1400" b="1">
                <a:solidFill>
                  <a:srgbClr val="161B26"/>
                </a:solidFill>
                <a:latin typeface="Arial"/>
              </a:rPr>
              <a:t>Reality check</a:t>
            </a:r>
          </a:p>
          <a:p>
            <a:pPr algn="l">
              <a:spcAft>
                <a:spcPts val="300"/>
              </a:spcAft>
            </a:pPr>
            <a:r>
              <a:rPr sz="1100" b="0">
                <a:solidFill>
                  <a:srgbClr val="5B6372"/>
                </a:solidFill>
                <a:latin typeface="Arial"/>
              </a:rPr>
              <a:t>Real devices are noisy — QEC and fault tolerance are the road to useful computation.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KEEP BUILDING AFTER THE COURSE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Keep Practising on IBM Quantum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6309360" cy="397763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630936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011679"/>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2011679"/>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2011679"/>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20240" y="1965959"/>
            <a:ext cx="4937760" cy="2468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57400" y="1965959"/>
            <a:ext cx="4754880" cy="246888"/>
          </a:xfrm>
          <a:prstGeom prst="rect">
            <a:avLst/>
          </a:prstGeom>
          <a:noFill/>
        </p:spPr>
        <p:txBody>
          <a:bodyPr wrap="square" anchor="ctr">
            <a:spAutoFit/>
          </a:bodyPr>
          <a:lstStyle/>
          <a:p>
            <a:pPr algn="l">
              <a:spcAft>
                <a:spcPts val="400"/>
              </a:spcAft>
            </a:pPr>
            <a:r>
              <a:rPr sz="1000" b="0">
                <a:solidFill>
                  <a:srgbClr val="5B6372"/>
                </a:solidFill>
                <a:latin typeface="Arial"/>
              </a:rPr>
              <a:t>https://quantum.cloud.ibm.com/composer</a:t>
            </a:r>
          </a:p>
        </p:txBody>
      </p:sp>
      <p:pic>
        <p:nvPicPr>
          <p:cNvPr id="14" name="Picture 13" descr="ibm-composer.png"/>
          <p:cNvPicPr>
            <a:picLocks noChangeAspect="1"/>
          </p:cNvPicPr>
          <p:nvPr/>
        </p:nvPicPr>
        <p:blipFill>
          <a:blip r:embed="rId2"/>
          <a:stretch>
            <a:fillRect/>
          </a:stretch>
        </p:blipFill>
        <p:spPr>
          <a:xfrm>
            <a:off x="980414" y="2423159"/>
            <a:ext cx="5903012" cy="3291839"/>
          </a:xfrm>
          <a:prstGeom prst="rect">
            <a:avLst/>
          </a:prstGeom>
        </p:spPr>
      </p:pic>
      <p:sp>
        <p:nvSpPr>
          <p:cNvPr id="15" name="Rectangle 14"/>
          <p:cNvSpPr/>
          <p:nvPr/>
        </p:nvSpPr>
        <p:spPr>
          <a:xfrm>
            <a:off x="7360920" y="1874519"/>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1874519"/>
            <a:ext cx="82296" cy="6784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62088" y="200344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62088" y="2003449"/>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9" name="TextBox 18"/>
          <p:cNvSpPr txBox="1"/>
          <p:nvPr/>
        </p:nvSpPr>
        <p:spPr>
          <a:xfrm>
            <a:off x="8138160" y="1874519"/>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Rebuild Labs 8, 12 and 13 from a blank canvas — these are the core algorithm circuits.</a:t>
            </a:r>
          </a:p>
        </p:txBody>
      </p:sp>
      <p:sp>
        <p:nvSpPr>
          <p:cNvPr id="20" name="Rectangle 19"/>
          <p:cNvSpPr/>
          <p:nvPr/>
        </p:nvSpPr>
        <p:spPr>
          <a:xfrm>
            <a:off x="7360920" y="2699307"/>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60920" y="2699307"/>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562088" y="282823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62088" y="2828237"/>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4" name="TextBox 23"/>
          <p:cNvSpPr txBox="1"/>
          <p:nvPr/>
        </p:nvSpPr>
        <p:spPr>
          <a:xfrm>
            <a:off x="8138160" y="2699307"/>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Re-run each lab and predict the histogram BEFORE you press Run.</a:t>
            </a:r>
          </a:p>
        </p:txBody>
      </p:sp>
      <p:sp>
        <p:nvSpPr>
          <p:cNvPr id="25" name="Rectangle 24"/>
          <p:cNvSpPr/>
          <p:nvPr/>
        </p:nvSpPr>
        <p:spPr>
          <a:xfrm>
            <a:off x="7360920" y="3524095"/>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60920" y="3524095"/>
            <a:ext cx="82296" cy="6784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62088" y="3653025"/>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62088" y="3653025"/>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9" name="TextBox 28"/>
          <p:cNvSpPr txBox="1"/>
          <p:nvPr/>
        </p:nvSpPr>
        <p:spPr>
          <a:xfrm>
            <a:off x="8138160" y="3524095"/>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Re-target Grover's oracle to each of |00&gt;, |01&gt;, |10&gt; and |11&gt;.</a:t>
            </a:r>
          </a:p>
        </p:txBody>
      </p:sp>
      <p:sp>
        <p:nvSpPr>
          <p:cNvPr id="30" name="Rectangle 29"/>
          <p:cNvSpPr/>
          <p:nvPr/>
        </p:nvSpPr>
        <p:spPr>
          <a:xfrm>
            <a:off x="7360920" y="4348883"/>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0920" y="4348883"/>
            <a:ext cx="82296" cy="6784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562088" y="4477813"/>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62088" y="4477813"/>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8138160" y="4348883"/>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Change the Bernstein-Vazirani hidden string and confirm the readout follows.</a:t>
            </a:r>
          </a:p>
        </p:txBody>
      </p:sp>
      <p:sp>
        <p:nvSpPr>
          <p:cNvPr id="35" name="Rectangle 34"/>
          <p:cNvSpPr/>
          <p:nvPr/>
        </p:nvSpPr>
        <p:spPr>
          <a:xfrm>
            <a:off x="7360920" y="5173671"/>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60920" y="5173671"/>
            <a:ext cx="82296" cy="6784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62088" y="5302601"/>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62088" y="5302601"/>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39" name="TextBox 38"/>
          <p:cNvSpPr txBox="1"/>
          <p:nvPr/>
        </p:nvSpPr>
        <p:spPr>
          <a:xfrm>
            <a:off x="8138160" y="5173671"/>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Run one circuit on real hardware and explain the difference.</a:t>
            </a:r>
          </a:p>
        </p:txBody>
      </p:sp>
      <p:sp>
        <p:nvSpPr>
          <p:cNvPr id="40" name="TextBox 39"/>
          <p:cNvSpPr txBox="1"/>
          <p:nvPr/>
        </p:nvSpPr>
        <p:spPr>
          <a:xfrm>
            <a:off x="777240" y="5943600"/>
            <a:ext cx="10634472" cy="320040"/>
          </a:xfrm>
          <a:prstGeom prst="rect">
            <a:avLst/>
          </a:prstGeom>
          <a:noFill/>
        </p:spPr>
        <p:txBody>
          <a:bodyPr wrap="square" anchor="t">
            <a:spAutoFit/>
          </a:bodyPr>
          <a:lstStyle/>
          <a:p>
            <a:pPr algn="l">
              <a:spcAft>
                <a:spcPts val="400"/>
              </a:spcAft>
            </a:pPr>
            <a:r>
              <a:rPr sz="1200" b="0">
                <a:solidFill>
                  <a:srgbClr val="5B6372"/>
                </a:solidFill>
                <a:latin typeface="Arial"/>
              </a:rPr>
              <a:t>Your IBM Quantum account stays free after the course — keep building.</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RECOMMENDED COURSES · www.tertiarycourses.com.sg</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74520"/>
            <a:ext cx="9427464" cy="537667"/>
          </a:xfrm>
          <a:prstGeom prst="rect">
            <a:avLst/>
          </a:prstGeom>
          <a:noFill/>
        </p:spPr>
        <p:txBody>
          <a:bodyPr wrap="square" anchor="ctr">
            <a:spAutoFit/>
          </a:bodyPr>
          <a:lstStyle/>
          <a:p>
            <a:pPr algn="l">
              <a:spcAft>
                <a:spcPts val="400"/>
              </a:spcAft>
            </a:pPr>
            <a:r>
              <a:rPr sz="1500" b="0">
                <a:solidFill>
                  <a:srgbClr val="161B26"/>
                </a:solidFill>
                <a:latin typeface="Arial"/>
              </a:rPr>
              <a:t>Securing the Future with Quantum Computing and Cryptography</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1764792" y="2796235"/>
            <a:ext cx="9427464" cy="537667"/>
          </a:xfrm>
          <a:prstGeom prst="rect">
            <a:avLst/>
          </a:prstGeom>
          <a:noFill/>
        </p:spPr>
        <p:txBody>
          <a:bodyPr wrap="square" anchor="ctr">
            <a:spAutoFit/>
          </a:bodyPr>
          <a:lstStyle/>
          <a:p>
            <a:pPr algn="l">
              <a:spcAft>
                <a:spcPts val="400"/>
              </a:spcAft>
            </a:pPr>
            <a:r>
              <a:rPr sz="1500" b="0">
                <a:solidFill>
                  <a:srgbClr val="161B26"/>
                </a:solidFill>
                <a:latin typeface="Arial"/>
              </a:rPr>
              <a:t>Python Fundamental Course for Beginners</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3717950"/>
            <a:ext cx="9427464" cy="537667"/>
          </a:xfrm>
          <a:prstGeom prst="rect">
            <a:avLst/>
          </a:prstGeom>
          <a:noFill/>
        </p:spPr>
        <p:txBody>
          <a:bodyPr wrap="square" anchor="ctr">
            <a:spAutoFit/>
          </a:bodyPr>
          <a:lstStyle/>
          <a:p>
            <a:pPr algn="l">
              <a:spcAft>
                <a:spcPts val="400"/>
              </a:spcAft>
            </a:pPr>
            <a:r>
              <a:rPr sz="1500" b="0">
                <a:solidFill>
                  <a:srgbClr val="161B26"/>
                </a:solidFill>
                <a:latin typeface="Arial"/>
              </a:rPr>
              <a:t>Building Your First Machine Learning Model with Python and Tensorflow</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1764792" y="4639665"/>
            <a:ext cx="9427464" cy="537667"/>
          </a:xfrm>
          <a:prstGeom prst="rect">
            <a:avLst/>
          </a:prstGeom>
          <a:noFill/>
        </p:spPr>
        <p:txBody>
          <a:bodyPr wrap="square" anchor="ctr">
            <a:spAutoFit/>
          </a:bodyPr>
          <a:lstStyle/>
          <a:p>
            <a:pPr algn="l">
              <a:spcAft>
                <a:spcPts val="400"/>
              </a:spcAft>
            </a:pPr>
            <a:r>
              <a:rPr sz="1500" b="0">
                <a:solidFill>
                  <a:srgbClr val="161B26"/>
                </a:solidFill>
                <a:latin typeface="Arial"/>
              </a:rPr>
              <a:t>Practical Reinforcement Learning for Beginners</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1" name="TextBox 30"/>
          <p:cNvSpPr txBox="1"/>
          <p:nvPr/>
        </p:nvSpPr>
        <p:spPr>
          <a:xfrm>
            <a:off x="1764792" y="5561380"/>
            <a:ext cx="9427464" cy="537667"/>
          </a:xfrm>
          <a:prstGeom prst="rect">
            <a:avLst/>
          </a:prstGeom>
          <a:noFill/>
        </p:spPr>
        <p:txBody>
          <a:bodyPr wrap="square" anchor="ctr">
            <a:spAutoFit/>
          </a:bodyPr>
          <a:lstStyle/>
          <a:p>
            <a:pPr algn="l">
              <a:spcAft>
                <a:spcPts val="400"/>
              </a:spcAft>
            </a:pPr>
            <a:r>
              <a:rPr sz="1500" b="0">
                <a:solidFill>
                  <a:srgbClr val="161B26"/>
                </a:solidFill>
                <a:latin typeface="Arial"/>
              </a:rPr>
              <a:t>Practical Image Generation Using GAN, VAE, and Diffusion Models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YOU LEAVE</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Course Feedback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74519"/>
            <a:ext cx="6309360" cy="397763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74519"/>
            <a:ext cx="6309360"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011679"/>
            <a:ext cx="146304" cy="146304"/>
          </a:xfrm>
          <a:prstGeom prst="ellipse">
            <a:avLst/>
          </a:prstGeom>
          <a:solidFill>
            <a:srgbClr val="FF5F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2011679"/>
            <a:ext cx="146304" cy="146304"/>
          </a:xfrm>
          <a:prstGeom prst="ellipse">
            <a:avLst/>
          </a:prstGeom>
          <a:solidFill>
            <a:srgbClr val="FEBC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2011679"/>
            <a:ext cx="146304" cy="146304"/>
          </a:xfrm>
          <a:prstGeom prst="ellipse">
            <a:avLst/>
          </a:prstGeom>
          <a:solidFill>
            <a:srgbClr val="28C8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920240" y="1965959"/>
            <a:ext cx="4937760" cy="2468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57400" y="1965959"/>
            <a:ext cx="4754880" cy="246888"/>
          </a:xfrm>
          <a:prstGeom prst="rect">
            <a:avLst/>
          </a:prstGeom>
          <a:noFill/>
        </p:spPr>
        <p:txBody>
          <a:bodyPr wrap="square" anchor="ctr">
            <a:spAutoFit/>
          </a:bodyPr>
          <a:lstStyle/>
          <a:p>
            <a:pPr algn="l">
              <a:spcAft>
                <a:spcPts val="400"/>
              </a:spcAft>
            </a:pPr>
            <a:r>
              <a:rPr sz="1000" b="0">
                <a:solidFill>
                  <a:srgbClr val="5B6372"/>
                </a:solidFill>
                <a:latin typeface="Arial"/>
              </a:rPr>
              <a:t>https://lms-tms.tertiaryinfotech.com</a:t>
            </a:r>
          </a:p>
        </p:txBody>
      </p:sp>
      <p:pic>
        <p:nvPicPr>
          <p:cNvPr id="14" name="Picture 13" descr="lms-portal.png"/>
          <p:cNvPicPr>
            <a:picLocks noChangeAspect="1"/>
          </p:cNvPicPr>
          <p:nvPr/>
        </p:nvPicPr>
        <p:blipFill>
          <a:blip r:embed="rId2"/>
          <a:stretch>
            <a:fillRect/>
          </a:stretch>
        </p:blipFill>
        <p:spPr>
          <a:xfrm>
            <a:off x="980414" y="2423159"/>
            <a:ext cx="5903012" cy="3291839"/>
          </a:xfrm>
          <a:prstGeom prst="rect">
            <a:avLst/>
          </a:prstGeom>
        </p:spPr>
      </p:pic>
      <p:sp>
        <p:nvSpPr>
          <p:cNvPr id="15" name="Rectangle 14"/>
          <p:cNvSpPr/>
          <p:nvPr/>
        </p:nvSpPr>
        <p:spPr>
          <a:xfrm>
            <a:off x="7360920" y="1874519"/>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60920" y="1874519"/>
            <a:ext cx="82296" cy="6784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562088" y="2003449"/>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62088" y="2003449"/>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1</a:t>
            </a:r>
          </a:p>
        </p:txBody>
      </p:sp>
      <p:sp>
        <p:nvSpPr>
          <p:cNvPr id="19" name="TextBox 18"/>
          <p:cNvSpPr txBox="1"/>
          <p:nvPr/>
        </p:nvSpPr>
        <p:spPr>
          <a:xfrm>
            <a:off x="8138160" y="1874519"/>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Sign in to the LMS/TMS portal.</a:t>
            </a:r>
          </a:p>
        </p:txBody>
      </p:sp>
      <p:sp>
        <p:nvSpPr>
          <p:cNvPr id="20" name="Rectangle 19"/>
          <p:cNvSpPr/>
          <p:nvPr/>
        </p:nvSpPr>
        <p:spPr>
          <a:xfrm>
            <a:off x="7360920" y="2699307"/>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60920" y="2699307"/>
            <a:ext cx="82296" cy="6784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562088" y="2828237"/>
            <a:ext cx="420624" cy="420624"/>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62088" y="2828237"/>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2</a:t>
            </a:r>
          </a:p>
        </p:txBody>
      </p:sp>
      <p:sp>
        <p:nvSpPr>
          <p:cNvPr id="24" name="TextBox 23"/>
          <p:cNvSpPr txBox="1"/>
          <p:nvPr/>
        </p:nvSpPr>
        <p:spPr>
          <a:xfrm>
            <a:off x="8138160" y="2699307"/>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Complete the course-feedback form for this course.</a:t>
            </a:r>
          </a:p>
        </p:txBody>
      </p:sp>
      <p:sp>
        <p:nvSpPr>
          <p:cNvPr id="25" name="Rectangle 24"/>
          <p:cNvSpPr/>
          <p:nvPr/>
        </p:nvSpPr>
        <p:spPr>
          <a:xfrm>
            <a:off x="7360920" y="3524095"/>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60920" y="3524095"/>
            <a:ext cx="82296" cy="6784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62088" y="3653025"/>
            <a:ext cx="420624" cy="420624"/>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62088" y="3653025"/>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3</a:t>
            </a:r>
          </a:p>
        </p:txBody>
      </p:sp>
      <p:sp>
        <p:nvSpPr>
          <p:cNvPr id="29" name="TextBox 28"/>
          <p:cNvSpPr txBox="1"/>
          <p:nvPr/>
        </p:nvSpPr>
        <p:spPr>
          <a:xfrm>
            <a:off x="8138160" y="3524095"/>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Share what worked best and what needs more time.</a:t>
            </a:r>
          </a:p>
        </p:txBody>
      </p:sp>
      <p:sp>
        <p:nvSpPr>
          <p:cNvPr id="30" name="Rectangle 29"/>
          <p:cNvSpPr/>
          <p:nvPr/>
        </p:nvSpPr>
        <p:spPr>
          <a:xfrm>
            <a:off x="7360920" y="4348883"/>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0920" y="4348883"/>
            <a:ext cx="82296" cy="67848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562088" y="4477813"/>
            <a:ext cx="420624" cy="420624"/>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62088" y="4477813"/>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4</a:t>
            </a:r>
          </a:p>
        </p:txBody>
      </p:sp>
      <p:sp>
        <p:nvSpPr>
          <p:cNvPr id="34" name="TextBox 33"/>
          <p:cNvSpPr txBox="1"/>
          <p:nvPr/>
        </p:nvSpPr>
        <p:spPr>
          <a:xfrm>
            <a:off x="8138160" y="4348883"/>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Your e-certificate of completion is issued after the course.</a:t>
            </a:r>
          </a:p>
        </p:txBody>
      </p:sp>
      <p:sp>
        <p:nvSpPr>
          <p:cNvPr id="35" name="Rectangle 34"/>
          <p:cNvSpPr/>
          <p:nvPr/>
        </p:nvSpPr>
        <p:spPr>
          <a:xfrm>
            <a:off x="7360920" y="5173671"/>
            <a:ext cx="4050791" cy="6784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360920" y="5173671"/>
            <a:ext cx="82296" cy="6784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7562088" y="5302601"/>
            <a:ext cx="420624" cy="420624"/>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62088" y="5302601"/>
            <a:ext cx="420624" cy="420624"/>
          </a:xfrm>
          <a:prstGeom prst="rect">
            <a:avLst/>
          </a:prstGeom>
          <a:noFill/>
        </p:spPr>
        <p:txBody>
          <a:bodyPr wrap="square" anchor="ctr">
            <a:spAutoFit/>
          </a:bodyPr>
          <a:lstStyle/>
          <a:p>
            <a:pPr algn="ctr">
              <a:spcAft>
                <a:spcPts val="400"/>
              </a:spcAft>
            </a:pPr>
            <a:r>
              <a:rPr sz="1400" b="1">
                <a:solidFill>
                  <a:srgbClr val="FFFFFF"/>
                </a:solidFill>
                <a:latin typeface="Arial"/>
              </a:rPr>
              <a:t>5</a:t>
            </a:r>
          </a:p>
        </p:txBody>
      </p:sp>
      <p:sp>
        <p:nvSpPr>
          <p:cNvPr id="39" name="TextBox 38"/>
          <p:cNvSpPr txBox="1"/>
          <p:nvPr/>
        </p:nvSpPr>
        <p:spPr>
          <a:xfrm>
            <a:off x="8138160" y="5173671"/>
            <a:ext cx="3090671" cy="678484"/>
          </a:xfrm>
          <a:prstGeom prst="rect">
            <a:avLst/>
          </a:prstGeom>
          <a:noFill/>
        </p:spPr>
        <p:txBody>
          <a:bodyPr wrap="square" anchor="ctr">
            <a:spAutoFit/>
          </a:bodyPr>
          <a:lstStyle/>
          <a:p>
            <a:pPr algn="l">
              <a:spcAft>
                <a:spcPts val="400"/>
              </a:spcAft>
            </a:pPr>
            <a:r>
              <a:rPr sz="1200" b="0">
                <a:solidFill>
                  <a:srgbClr val="161B26"/>
                </a:solidFill>
                <a:latin typeface="Arial"/>
              </a:rPr>
              <a:t>Download it from the portal once released.</a:t>
            </a:r>
          </a:p>
        </p:txBody>
      </p:sp>
      <p:sp>
        <p:nvSpPr>
          <p:cNvPr id="40" name="TextBox 39"/>
          <p:cNvSpPr txBox="1"/>
          <p:nvPr/>
        </p:nvSpPr>
        <p:spPr>
          <a:xfrm>
            <a:off x="777240" y="5943600"/>
            <a:ext cx="10634472" cy="320040"/>
          </a:xfrm>
          <a:prstGeom prst="rect">
            <a:avLst/>
          </a:prstGeom>
          <a:noFill/>
        </p:spPr>
        <p:txBody>
          <a:bodyPr wrap="square" anchor="t">
            <a:spAutoFit/>
          </a:bodyPr>
          <a:lstStyle/>
          <a:p>
            <a:pPr algn="l">
              <a:spcAft>
                <a:spcPts val="400"/>
              </a:spcAft>
            </a:pPr>
            <a:r>
              <a:rPr sz="1200" b="0">
                <a:solidFill>
                  <a:srgbClr val="5B6372"/>
                </a:solidFill>
                <a:latin typeface="Arial"/>
              </a:rPr>
              <a:t>Your feedback shapes the next run of this course.</a:t>
            </a:r>
          </a:p>
        </p:txBody>
      </p:sp>
      <p:sp>
        <p:nvSpPr>
          <p:cNvPr id="41" name="TextBox 4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42" name="TextBox 4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3" name="TextBox 4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IF YOU NEED US</a:t>
            </a:r>
          </a:p>
        </p:txBody>
      </p:sp>
      <p:sp>
        <p:nvSpPr>
          <p:cNvPr id="5" name="TextBox 4"/>
          <p:cNvSpPr txBox="1"/>
          <p:nvPr/>
        </p:nvSpPr>
        <p:spPr>
          <a:xfrm>
            <a:off x="777240" y="822960"/>
            <a:ext cx="10881360" cy="822960"/>
          </a:xfrm>
          <a:prstGeom prst="rect">
            <a:avLst/>
          </a:prstGeom>
          <a:noFill/>
        </p:spPr>
        <p:txBody>
          <a:bodyPr wrap="square" anchor="t">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1" name="TextBox 10"/>
          <p:cNvSpPr txBox="1"/>
          <p:nvPr/>
        </p:nvSpPr>
        <p:spPr>
          <a:xfrm>
            <a:off x="1764792" y="1892808"/>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E-mail</a:t>
            </a:r>
          </a:p>
          <a:p>
            <a:pPr algn="l">
              <a:spcAft>
                <a:spcPts val="300"/>
              </a:spcAft>
            </a:pPr>
            <a:r>
              <a:rPr sz="1200" b="0">
                <a:solidFill>
                  <a:srgbClr val="5B6372"/>
                </a:solidFill>
                <a:latin typeface="Arial"/>
              </a:rPr>
              <a:t>enquiry@tertiaryinfotech.com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6" name="TextBox 15"/>
          <p:cNvSpPr txBox="1"/>
          <p:nvPr/>
        </p:nvSpPr>
        <p:spPr>
          <a:xfrm>
            <a:off x="7219188" y="1892808"/>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Telephone</a:t>
            </a:r>
          </a:p>
          <a:p>
            <a:pPr algn="l">
              <a:spcAft>
                <a:spcPts val="300"/>
              </a:spcAft>
            </a:pPr>
            <a:r>
              <a:rPr sz="1200" b="0">
                <a:solidFill>
                  <a:srgbClr val="5B6372"/>
                </a:solidFill>
                <a:latin typeface="Arial"/>
              </a:rPr>
              <a:t>+65 6100 0613</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1" name="TextBox 20"/>
          <p:cNvSpPr txBox="1"/>
          <p:nvPr/>
        </p:nvSpPr>
        <p:spPr>
          <a:xfrm>
            <a:off x="1764792" y="4197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Website</a:t>
            </a:r>
          </a:p>
          <a:p>
            <a:pPr algn="l">
              <a:spcAft>
                <a:spcPts val="300"/>
              </a:spcAft>
            </a:pPr>
            <a:r>
              <a:rPr sz="1200" b="0">
                <a:solidFill>
                  <a:srgbClr val="5B6372"/>
                </a:solidFill>
                <a:latin typeface="Arial"/>
              </a:rPr>
              <a:t>www.tertiarycourses.com.sg</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6" name="TextBox 25"/>
          <p:cNvSpPr txBox="1"/>
          <p:nvPr/>
        </p:nvSpPr>
        <p:spPr>
          <a:xfrm>
            <a:off x="7219188" y="4197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LMS / TMS</a:t>
            </a:r>
          </a:p>
          <a:p>
            <a:pPr algn="l">
              <a:spcAft>
                <a:spcPts val="300"/>
              </a:spcAft>
            </a:pPr>
            <a:r>
              <a:rPr sz="1200" b="0">
                <a:solidFill>
                  <a:srgbClr val="5B6372"/>
                </a:solidFill>
                <a:latin typeface="Arial"/>
              </a:rPr>
              <a:t>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build, run and diagnose quantum circuits on IBM Quantum Composer — and explain why they work.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Quantum Computing Fundamentals for Beginners  ·  C882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 Computing Fundamentals for Beginners (C882)</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